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208f5ea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208f5ea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208f5ea4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208f5ea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0a08679c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0a08679c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combination(s) of data actually predict(s) a CV event?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of physiologic risk threshold important - if too sensitive, then too many false positives &gt; annoying &gt; mothers don’t trust. If not sensitive enough, fail to predict CV events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9b85f97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e9b85f97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9b85f97f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e9b85f97f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9b85f97f4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e9b85f97f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(g3e9bc4a886b_7_0)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 and body (g3e9bc4a886b_14_0)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3" name="Google Shape;73;p16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74" name="Google Shape;74;p16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6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8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8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9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21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21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23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3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08" name="Google Shape;108;p2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9" name="Google Shape;109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5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(g3e9bc4a886b_7_0)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 and body (g3e9bc4a886b_14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 and body (g3e9bc4a886b_21_0)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Study Design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[Session 2]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0"/>
          <p:cNvSpPr txBox="1"/>
          <p:nvPr>
            <p:ph idx="1" type="subTitle"/>
          </p:nvPr>
        </p:nvSpPr>
        <p:spPr>
          <a:xfrm>
            <a:off x="311700" y="2834125"/>
            <a:ext cx="8520600" cy="14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Group 3: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Casey Filler, Soroush Dianaty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Lullaby: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 Low-Burden Digital Health Intervention for Postpartum Hypertension Monitoring in Heat-Stressed Safety-Net Communities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87900" y="3818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Research/Scientific Question.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Identify at least one research question that you need to answer in order to either construct or test your intervention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 Think about what you don’t know yet about your intervention that would lend itself to a research study.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425" y="1790900"/>
            <a:ext cx="997750" cy="9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4725" y="1790900"/>
            <a:ext cx="997750" cy="9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675" y="1343950"/>
            <a:ext cx="7136673" cy="363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488900" y="457200"/>
            <a:ext cx="8406900" cy="71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Study Design: Prospective cohort study with repeated measures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488900" y="1284975"/>
            <a:ext cx="81867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Preparation phase of MOST: observational data needed to </a:t>
            </a:r>
            <a:r>
              <a:rPr b="1" lang="en" sz="1200" u="sng"/>
              <a:t>lay the groundwork </a:t>
            </a:r>
            <a:r>
              <a:rPr lang="en" sz="1200"/>
              <a:t>for optimization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 u="sng"/>
              <a:t>Primary distal/clinical outcomes:</a:t>
            </a:r>
            <a:r>
              <a:rPr lang="en" sz="1200"/>
              <a:t> confirmed CV event, confirmed heat-related illness, hospitalization/ED visit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 u="sng"/>
              <a:t>Proximal outcomes:</a:t>
            </a:r>
            <a:r>
              <a:rPr b="1" lang="en" sz="1200"/>
              <a:t> </a:t>
            </a:r>
            <a:r>
              <a:rPr lang="en" sz="1200"/>
              <a:t>False positive/false negative alert rates, completion rates of self-report surveys when prompted, success rate of appropriate user response (call vs. no call)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 u="sng"/>
              <a:t>Conceptual model </a:t>
            </a:r>
            <a:r>
              <a:rPr lang="en" sz="1200"/>
              <a:t>uses a combination of physiologic and self-report data to accurately predict CV events and differentiate between this and heat strain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 u="sng"/>
              <a:t>Identify set of components</a:t>
            </a:r>
            <a:r>
              <a:rPr lang="en" sz="1200"/>
              <a:t> for optimization prior to randomized trial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No control condition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Record as much data as possible to create a database to inform decision making</a:t>
            </a:r>
            <a:endParaRPr sz="1200"/>
          </a:p>
        </p:txBody>
      </p:sp>
      <p:pic>
        <p:nvPicPr>
          <p:cNvPr id="153" name="Google Shape;153;p32"/>
          <p:cNvPicPr preferRelativeResize="0"/>
          <p:nvPr/>
        </p:nvPicPr>
        <p:blipFill rotWithShape="1">
          <a:blip r:embed="rId3">
            <a:alphaModFix/>
          </a:blip>
          <a:srcRect b="12712" l="1441" r="8468" t="20839"/>
          <a:stretch/>
        </p:blipFill>
        <p:spPr>
          <a:xfrm>
            <a:off x="573687" y="3178650"/>
            <a:ext cx="8237327" cy="177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Intervention components.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What theoretically and/or empirically-grounded intervention components will you include in your intervention? Justify the selection of these specific components.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3"/>
          <p:cNvSpPr txBox="1"/>
          <p:nvPr>
            <p:ph idx="1" type="body"/>
          </p:nvPr>
        </p:nvSpPr>
        <p:spPr>
          <a:xfrm>
            <a:off x="387900" y="134694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 u="sng"/>
              <a:t>Physiologic risk threshold </a:t>
            </a:r>
            <a:r>
              <a:rPr b="1" lang="en" sz="1200"/>
              <a:t>- most important </a:t>
            </a:r>
            <a:endParaRPr b="1"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Independently elevated BP vs. elevated BP + tachycardia + increase in body temp. 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 u="sng"/>
              <a:t>Heat strain differentiation</a:t>
            </a:r>
            <a:endParaRPr b="1" sz="1200" u="sng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Ambient temperature, total body water, duration of fluctuations 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Timing of analysis through wrist-worn sensor (frequency of measurement → analysis → decision making)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10 minutes? Hourly? Daily? (EDA of data collection frequency)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Symptom survey design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Which symptoms to include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Does survey adapt based on answers?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Alert strategy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Wording of prompts to encourage appropriate user response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Urgency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Engagement with scale and wrist-worn sensor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Reminder prompts? Text messages?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Nurse triage workflow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Suggestion to call RN hotline vs RN calls patient </a:t>
            </a:r>
            <a:endParaRPr sz="1200"/>
          </a:p>
        </p:txBody>
      </p:sp>
      <p:cxnSp>
        <p:nvCxnSpPr>
          <p:cNvPr id="160" name="Google Shape;160;p33"/>
          <p:cNvCxnSpPr/>
          <p:nvPr/>
        </p:nvCxnSpPr>
        <p:spPr>
          <a:xfrm>
            <a:off x="581625" y="2334900"/>
            <a:ext cx="7839300" cy="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34"/>
          <p:cNvGrpSpPr/>
          <p:nvPr/>
        </p:nvGrpSpPr>
        <p:grpSpPr>
          <a:xfrm>
            <a:off x="381000" y="476250"/>
            <a:ext cx="8382000" cy="904875"/>
            <a:chOff x="381000" y="476250"/>
            <a:chExt cx="8382000" cy="904875"/>
          </a:xfrm>
        </p:grpSpPr>
        <p:cxnSp>
          <p:nvCxnSpPr>
            <p:cNvPr id="166" name="Google Shape;166;p34"/>
            <p:cNvCxnSpPr/>
            <p:nvPr/>
          </p:nvCxnSpPr>
          <p:spPr>
            <a:xfrm>
              <a:off x="381000" y="476250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039B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" name="Google Shape;167;p34"/>
            <p:cNvSpPr txBox="1"/>
            <p:nvPr/>
          </p:nvSpPr>
          <p:spPr>
            <a:xfrm>
              <a:off x="381000" y="619125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Technology Development &amp; Team Synergy</a:t>
              </a:r>
              <a:endParaRPr b="1" sz="2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0BEC5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Bridging behavioral science and data science to build robust, patient-centered health tools.</a:t>
              </a:r>
              <a:endParaRPr b="0" sz="1100">
                <a:solidFill>
                  <a:srgbClr val="B0BEC5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68" name="Google Shape;168;p34"/>
          <p:cNvGrpSpPr/>
          <p:nvPr/>
        </p:nvGrpSpPr>
        <p:grpSpPr>
          <a:xfrm>
            <a:off x="381000" y="1524000"/>
            <a:ext cx="4095900" cy="3238500"/>
            <a:chOff x="381000" y="1524000"/>
            <a:chExt cx="4095900" cy="3238500"/>
          </a:xfrm>
        </p:grpSpPr>
        <p:sp>
          <p:nvSpPr>
            <p:cNvPr id="169" name="Google Shape;169;p34"/>
            <p:cNvSpPr/>
            <p:nvPr/>
          </p:nvSpPr>
          <p:spPr>
            <a:xfrm>
              <a:off x="381000" y="1524000"/>
              <a:ext cx="4095900" cy="3238500"/>
            </a:xfrm>
            <a:prstGeom prst="roundRect">
              <a:avLst>
                <a:gd fmla="val 2941" name="adj"/>
              </a:avLst>
            </a:prstGeom>
            <a:solidFill>
              <a:srgbClr val="004D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4"/>
            <p:cNvSpPr txBox="1"/>
            <p:nvPr/>
          </p:nvSpPr>
          <p:spPr>
            <a:xfrm>
              <a:off x="571500" y="1714500"/>
              <a:ext cx="3714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39BE5"/>
                  </a:solidFill>
                  <a:latin typeface="Roboto"/>
                  <a:ea typeface="Roboto"/>
                  <a:cs typeface="Roboto"/>
                  <a:sym typeface="Roboto"/>
                </a:rPr>
                <a:t>Core Technologies</a:t>
              </a:r>
              <a:endParaRPr b="1" sz="1600">
                <a:solidFill>
                  <a:srgbClr val="039BE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Collection Hardware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FD8DC"/>
                </a:buClr>
                <a:buSzPts val="1100"/>
                <a:buFont typeface="Roboto"/>
                <a:buAutoNum type="arabicPeriod"/>
              </a:pP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A w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rist-worn device with 3 biosensor (</a:t>
              </a:r>
              <a:r>
                <a:rPr i="1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PPG, temp, gyro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) for measuring vitals and body 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temperature</a:t>
              </a:r>
              <a:endParaRPr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CFD8DC"/>
                </a:buClr>
                <a:buSzPts val="1100"/>
                <a:buFont typeface="Roboto"/>
                <a:buAutoNum type="arabicPeriod"/>
              </a:pP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Smart scale with 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bioimpedance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and weight sensors to measure weight and body water and hydration).</a:t>
              </a:r>
              <a:endParaRPr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Patient-Facing App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M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obile interface with active (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scheduled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and event-triggered surveys) and passive (sensor and user 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experience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) data collection used to fine-tune an 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existing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publicly available model. </a:t>
              </a:r>
              <a:endParaRPr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Backend / Cloud Server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HIPAA-compliant server (GCP)</a:t>
              </a:r>
              <a:endParaRPr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1" name="Google Shape;171;p34"/>
          <p:cNvGrpSpPr/>
          <p:nvPr/>
        </p:nvGrpSpPr>
        <p:grpSpPr>
          <a:xfrm>
            <a:off x="4667250" y="1524000"/>
            <a:ext cx="4095900" cy="3238500"/>
            <a:chOff x="4667250" y="1524000"/>
            <a:chExt cx="4095900" cy="3238500"/>
          </a:xfrm>
        </p:grpSpPr>
        <p:sp>
          <p:nvSpPr>
            <p:cNvPr id="172" name="Google Shape;172;p34"/>
            <p:cNvSpPr/>
            <p:nvPr/>
          </p:nvSpPr>
          <p:spPr>
            <a:xfrm>
              <a:off x="4667250" y="1524000"/>
              <a:ext cx="4095900" cy="3238500"/>
            </a:xfrm>
            <a:prstGeom prst="roundRect">
              <a:avLst>
                <a:gd fmla="val 2941" name="adj"/>
              </a:avLst>
            </a:prstGeom>
            <a:solidFill>
              <a:srgbClr val="004D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4"/>
            <p:cNvSpPr txBox="1"/>
            <p:nvPr/>
          </p:nvSpPr>
          <p:spPr>
            <a:xfrm>
              <a:off x="4857750" y="1714500"/>
              <a:ext cx="3714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39BE5"/>
                  </a:solidFill>
                  <a:latin typeface="Roboto"/>
                  <a:ea typeface="Roboto"/>
                  <a:cs typeface="Roboto"/>
                  <a:sym typeface="Roboto"/>
                </a:rPr>
                <a:t>Team Synergy</a:t>
              </a:r>
              <a:endParaRPr b="1" sz="1600">
                <a:solidFill>
                  <a:srgbClr val="039BE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39B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 Science Perspective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Curation, AI algorithm development, and accuracy optimization (&gt;80%).</a:t>
              </a:r>
              <a:endParaRPr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39B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Behavioral Science Perspective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UX design for postpartum mothers; optimizing tone/timing to reduce burden.</a:t>
              </a:r>
              <a:endParaRPr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Collaboration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DS identifies medical necessity; BS dictates how alerts are communicated and acted upon.</a:t>
              </a:r>
              <a:endParaRPr i="1"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3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9" name="Google Shape;179;p35"/>
          <p:cNvGrpSpPr/>
          <p:nvPr/>
        </p:nvGrpSpPr>
        <p:grpSpPr>
          <a:xfrm>
            <a:off x="381000" y="476250"/>
            <a:ext cx="8382000" cy="904875"/>
            <a:chOff x="381000" y="476250"/>
            <a:chExt cx="8382000" cy="904875"/>
          </a:xfrm>
        </p:grpSpPr>
        <p:cxnSp>
          <p:nvCxnSpPr>
            <p:cNvPr id="180" name="Google Shape;180;p35"/>
            <p:cNvCxnSpPr/>
            <p:nvPr/>
          </p:nvCxnSpPr>
          <p:spPr>
            <a:xfrm rot="10800000">
              <a:off x="666750" y="190500"/>
              <a:ext cx="0" cy="57150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039B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" name="Google Shape;181;p35"/>
            <p:cNvSpPr txBox="1"/>
            <p:nvPr/>
          </p:nvSpPr>
          <p:spPr>
            <a:xfrm>
              <a:off x="381000" y="619125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Sample Size, Recruitment &amp; Retention</a:t>
              </a:r>
              <a:endParaRPr b="1" sz="2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0BEC5"/>
                  </a:solidFill>
                  <a:latin typeface="Roboto"/>
                  <a:ea typeface="Roboto"/>
                  <a:cs typeface="Roboto"/>
                  <a:sym typeface="Roboto"/>
                </a:rPr>
                <a:t>Strategic approach to participant enrollment and engagement for predictive modeling.</a:t>
              </a:r>
              <a:endParaRPr b="0" sz="1100">
                <a:solidFill>
                  <a:srgbClr val="B0BEC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2" name="Google Shape;182;p35"/>
          <p:cNvGrpSpPr/>
          <p:nvPr/>
        </p:nvGrpSpPr>
        <p:grpSpPr>
          <a:xfrm>
            <a:off x="381000" y="1524000"/>
            <a:ext cx="2667000" cy="3048000"/>
            <a:chOff x="381000" y="1524000"/>
            <a:chExt cx="2667000" cy="3048000"/>
          </a:xfrm>
        </p:grpSpPr>
        <p:sp>
          <p:nvSpPr>
            <p:cNvPr id="183" name="Google Shape;183;p35"/>
            <p:cNvSpPr/>
            <p:nvPr/>
          </p:nvSpPr>
          <p:spPr>
            <a:xfrm>
              <a:off x="3810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004D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5"/>
            <p:cNvSpPr txBox="1"/>
            <p:nvPr/>
          </p:nvSpPr>
          <p:spPr>
            <a:xfrm>
              <a:off x="523875" y="1666875"/>
              <a:ext cx="2381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39BE5"/>
                  </a:solidFill>
                  <a:latin typeface="Roboto"/>
                  <a:ea typeface="Roboto"/>
                  <a:cs typeface="Roboto"/>
                  <a:sym typeface="Roboto"/>
                </a:rPr>
                <a:t>Sample Size</a:t>
              </a:r>
              <a:endParaRPr b="1" sz="1600">
                <a:solidFill>
                  <a:srgbClr val="039BE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Determination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D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epends on number of parameters needed for model fine-tuning</a:t>
              </a:r>
              <a: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b="0"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Target: N=150-200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Aims for 10-15 CV events per predictor variable to ensure high accuracy.</a:t>
              </a:r>
              <a:endParaRPr b="0"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35"/>
          <p:cNvGrpSpPr/>
          <p:nvPr/>
        </p:nvGrpSpPr>
        <p:grpSpPr>
          <a:xfrm>
            <a:off x="3238500" y="1524000"/>
            <a:ext cx="2667000" cy="3048000"/>
            <a:chOff x="3238500" y="1524000"/>
            <a:chExt cx="2667000" cy="3048000"/>
          </a:xfrm>
        </p:grpSpPr>
        <p:sp>
          <p:nvSpPr>
            <p:cNvPr id="186" name="Google Shape;186;p35"/>
            <p:cNvSpPr/>
            <p:nvPr/>
          </p:nvSpPr>
          <p:spPr>
            <a:xfrm>
              <a:off x="32385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004D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5"/>
            <p:cNvSpPr txBox="1"/>
            <p:nvPr/>
          </p:nvSpPr>
          <p:spPr>
            <a:xfrm>
              <a:off x="3381375" y="1666875"/>
              <a:ext cx="2381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39BE5"/>
                  </a:solidFill>
                  <a:latin typeface="Roboto"/>
                  <a:ea typeface="Roboto"/>
                  <a:cs typeface="Roboto"/>
                  <a:sym typeface="Roboto"/>
                </a:rPr>
                <a:t>Recruitment</a:t>
              </a:r>
              <a:endParaRPr b="1" sz="1600">
                <a:solidFill>
                  <a:srgbClr val="039BE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Partnerships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Leveraging </a:t>
              </a:r>
              <a:r>
                <a:rPr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social groups and health</a:t>
              </a:r>
              <a: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clinics in South Phoenix/Mesa.</a:t>
              </a:r>
              <a:endParaRPr b="0"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Timing &amp; Framing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Recruit high-risk mothers in 3rd trimester or post-delivery</a:t>
              </a:r>
              <a:endParaRPr b="0"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" name="Google Shape;188;p35"/>
          <p:cNvGrpSpPr/>
          <p:nvPr/>
        </p:nvGrpSpPr>
        <p:grpSpPr>
          <a:xfrm>
            <a:off x="6096000" y="1524000"/>
            <a:ext cx="2667000" cy="3048000"/>
            <a:chOff x="6096000" y="1524000"/>
            <a:chExt cx="2667000" cy="3048000"/>
          </a:xfrm>
        </p:grpSpPr>
        <p:sp>
          <p:nvSpPr>
            <p:cNvPr id="189" name="Google Shape;189;p35"/>
            <p:cNvSpPr/>
            <p:nvPr/>
          </p:nvSpPr>
          <p:spPr>
            <a:xfrm>
              <a:off x="60960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004D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5"/>
            <p:cNvSpPr txBox="1"/>
            <p:nvPr/>
          </p:nvSpPr>
          <p:spPr>
            <a:xfrm>
              <a:off x="6238875" y="1666875"/>
              <a:ext cx="2381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39BE5"/>
                  </a:solidFill>
                  <a:latin typeface="Roboto"/>
                  <a:ea typeface="Roboto"/>
                  <a:cs typeface="Roboto"/>
                  <a:sym typeface="Roboto"/>
                </a:rPr>
                <a:t>Retention</a:t>
              </a:r>
              <a:endParaRPr b="1" sz="1600">
                <a:solidFill>
                  <a:srgbClr val="039BE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Combating Attrition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FD8DC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Incentives:</a:t>
              </a:r>
              <a: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Phased rewards (diapers, gift cards) for wear-time.</a:t>
              </a:r>
              <a:endParaRPr b="0" sz="10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FD8DC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Frictionless:</a:t>
              </a:r>
              <a: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Heavy reliance on passive monitoring.</a:t>
              </a:r>
              <a:endParaRPr b="0" sz="10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FD8DC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Engagement</a:t>
              </a: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AI</a:t>
              </a:r>
              <a:r>
                <a:rPr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and human agents having real-time interaction with participants to ensure compliance and providing educational material.</a:t>
              </a:r>
              <a:endParaRPr b="0" sz="10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36"/>
          <p:cNvGrpSpPr/>
          <p:nvPr/>
        </p:nvGrpSpPr>
        <p:grpSpPr>
          <a:xfrm>
            <a:off x="381000" y="476250"/>
            <a:ext cx="8382000" cy="904875"/>
            <a:chOff x="381000" y="476250"/>
            <a:chExt cx="8382000" cy="904875"/>
          </a:xfrm>
        </p:grpSpPr>
        <p:cxnSp>
          <p:nvCxnSpPr>
            <p:cNvPr id="196" name="Google Shape;196;p36"/>
            <p:cNvCxnSpPr/>
            <p:nvPr/>
          </p:nvCxnSpPr>
          <p:spPr>
            <a:xfrm rot="10800000">
              <a:off x="666750" y="190500"/>
              <a:ext cx="0" cy="57150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039B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7" name="Google Shape;197;p36"/>
            <p:cNvSpPr txBox="1"/>
            <p:nvPr/>
          </p:nvSpPr>
          <p:spPr>
            <a:xfrm>
              <a:off x="381000" y="619125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Budget Needs &amp; Justification</a:t>
              </a:r>
              <a:endParaRPr b="1" sz="28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B0BEC5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Comprehensive funding requirements for high-fidelity data collection and algorithmic training.</a:t>
              </a:r>
              <a:endParaRPr b="0" sz="1100">
                <a:solidFill>
                  <a:srgbClr val="B0BEC5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98" name="Google Shape;198;p36"/>
          <p:cNvGrpSpPr/>
          <p:nvPr/>
        </p:nvGrpSpPr>
        <p:grpSpPr>
          <a:xfrm>
            <a:off x="381000" y="1524000"/>
            <a:ext cx="2667000" cy="3048000"/>
            <a:chOff x="381000" y="1524000"/>
            <a:chExt cx="2667000" cy="3048000"/>
          </a:xfrm>
        </p:grpSpPr>
        <p:sp>
          <p:nvSpPr>
            <p:cNvPr id="199" name="Google Shape;199;p36"/>
            <p:cNvSpPr/>
            <p:nvPr/>
          </p:nvSpPr>
          <p:spPr>
            <a:xfrm>
              <a:off x="3810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004D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6"/>
            <p:cNvSpPr txBox="1"/>
            <p:nvPr/>
          </p:nvSpPr>
          <p:spPr>
            <a:xfrm>
              <a:off x="523875" y="1666875"/>
              <a:ext cx="2381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39BE5"/>
                  </a:solidFill>
                  <a:latin typeface="Roboto"/>
                  <a:ea typeface="Roboto"/>
                  <a:cs typeface="Roboto"/>
                  <a:sym typeface="Roboto"/>
                </a:rPr>
                <a:t>Participant Costs</a:t>
              </a:r>
              <a:endParaRPr b="1" sz="1600">
                <a:solidFill>
                  <a:srgbClr val="039BE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B0BEC5"/>
                  </a:solidFill>
                  <a:latin typeface="Roboto"/>
                  <a:ea typeface="Roboto"/>
                  <a:cs typeface="Roboto"/>
                  <a:sym typeface="Roboto"/>
                </a:rPr>
                <a:t>(Based on N=150)</a:t>
              </a:r>
              <a:endParaRPr b="0" sz="1000">
                <a:solidFill>
                  <a:srgbClr val="B0BEC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Hardware:</a:t>
              </a:r>
              <a: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~$70/pp</a:t>
              </a:r>
              <a:b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9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($50 </a:t>
              </a:r>
              <a:r>
                <a:rPr lang="en" sz="9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wearable </a:t>
              </a:r>
              <a:r>
                <a:rPr b="0" lang="en" sz="9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+ $20 scale)</a:t>
              </a:r>
              <a:endParaRPr b="0"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Incentives:</a:t>
              </a:r>
              <a: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~$150/pp</a:t>
              </a:r>
              <a:br>
                <a:rPr b="0" lang="en" sz="11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9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(12-week protocol completion)</a:t>
              </a:r>
              <a:endParaRPr b="0" sz="11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Subtotal: $33,000</a:t>
              </a:r>
              <a:endParaRPr b="1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1" name="Google Shape;201;p36"/>
          <p:cNvGrpSpPr/>
          <p:nvPr/>
        </p:nvGrpSpPr>
        <p:grpSpPr>
          <a:xfrm>
            <a:off x="3238500" y="1524000"/>
            <a:ext cx="2667000" cy="3048000"/>
            <a:chOff x="3238500" y="1524000"/>
            <a:chExt cx="2667000" cy="3048000"/>
          </a:xfrm>
        </p:grpSpPr>
        <p:sp>
          <p:nvSpPr>
            <p:cNvPr id="202" name="Google Shape;202;p36"/>
            <p:cNvSpPr/>
            <p:nvPr/>
          </p:nvSpPr>
          <p:spPr>
            <a:xfrm>
              <a:off x="32385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004D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6"/>
            <p:cNvSpPr txBox="1"/>
            <p:nvPr/>
          </p:nvSpPr>
          <p:spPr>
            <a:xfrm>
              <a:off x="3381375" y="1666875"/>
              <a:ext cx="2381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39BE5"/>
                  </a:solidFill>
                  <a:latin typeface="Roboto"/>
                  <a:ea typeface="Roboto"/>
                  <a:cs typeface="Roboto"/>
                  <a:sym typeface="Roboto"/>
                </a:rPr>
                <a:t>Technology &amp; Staff</a:t>
              </a:r>
              <a:endParaRPr b="1" sz="1600">
                <a:solidFill>
                  <a:srgbClr val="039BE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B0BEC5"/>
                  </a:solidFill>
                  <a:latin typeface="Roboto"/>
                  <a:ea typeface="Roboto"/>
                  <a:cs typeface="Roboto"/>
                  <a:sym typeface="Roboto"/>
                </a:rPr>
                <a:t>(Fixed Project Costs)</a:t>
              </a:r>
              <a:endParaRPr b="0" sz="1000">
                <a:solidFill>
                  <a:srgbClr val="B0BEC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ML Engineer</a:t>
              </a: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:</a:t>
              </a:r>
              <a: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~$</a:t>
              </a:r>
              <a:r>
                <a:rPr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20</a:t>
              </a:r>
              <a: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,000</a:t>
              </a:r>
              <a:b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App </a:t>
              </a:r>
              <a:r>
                <a:rPr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development, </a:t>
              </a:r>
              <a:r>
                <a:rPr lang="en" sz="9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MLOpS</a:t>
              </a:r>
              <a:endParaRPr b="0" sz="10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Coordinator:</a:t>
              </a:r>
              <a: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 ~$1</a:t>
              </a:r>
              <a:r>
                <a:rPr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,000</a:t>
              </a:r>
              <a:br>
                <a:rPr b="0" lang="en" sz="10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900">
                  <a:solidFill>
                    <a:srgbClr val="CFD8DC"/>
                  </a:solidFill>
                  <a:latin typeface="Roboto"/>
                  <a:ea typeface="Roboto"/>
                  <a:cs typeface="Roboto"/>
                  <a:sym typeface="Roboto"/>
                </a:rPr>
                <a:t>Recruitment &amp; retention</a:t>
              </a:r>
              <a:endParaRPr sz="9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RN Hotline:</a:t>
              </a:r>
              <a:r>
                <a:rPr lang="en" sz="1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 ~$5,000</a:t>
              </a:r>
              <a:br>
                <a:rPr lang="en" sz="1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9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Emergency triage retainer</a:t>
              </a:r>
              <a:endParaRPr sz="900">
                <a:solidFill>
                  <a:srgbClr val="CFD8D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4" name="Google Shape;204;p36"/>
          <p:cNvGrpSpPr/>
          <p:nvPr/>
        </p:nvGrpSpPr>
        <p:grpSpPr>
          <a:xfrm>
            <a:off x="6096000" y="1524000"/>
            <a:ext cx="2667000" cy="3048000"/>
            <a:chOff x="6096000" y="1524000"/>
            <a:chExt cx="2667000" cy="3048000"/>
          </a:xfrm>
        </p:grpSpPr>
        <p:sp>
          <p:nvSpPr>
            <p:cNvPr id="205" name="Google Shape;205;p36"/>
            <p:cNvSpPr/>
            <p:nvPr/>
          </p:nvSpPr>
          <p:spPr>
            <a:xfrm>
              <a:off x="60960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039B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6"/>
            <p:cNvSpPr txBox="1"/>
            <p:nvPr/>
          </p:nvSpPr>
          <p:spPr>
            <a:xfrm>
              <a:off x="6238875" y="1666875"/>
              <a:ext cx="23814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Total Funding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~$68,000</a:t>
              </a:r>
              <a:endParaRPr b="1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Justification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By the end of this pilot study, we will achieve:</a:t>
              </a:r>
              <a:endParaRPr sz="1000">
                <a:solidFill>
                  <a:srgbClr val="E1F5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1F5FE"/>
                </a:buClr>
                <a:buSzPts val="1000"/>
                <a:buFont typeface="Roboto"/>
                <a:buAutoNum type="arabicPeriod"/>
              </a:pP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App MVP</a:t>
              </a:r>
              <a:endParaRPr sz="1000">
                <a:solidFill>
                  <a:srgbClr val="E1F5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1F5FE"/>
                </a:buClr>
                <a:buSzPts val="1000"/>
                <a:buFont typeface="Roboto"/>
                <a:buAutoNum type="arabicPeriod"/>
              </a:pP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M</a:t>
              </a:r>
              <a:r>
                <a:rPr b="0"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ultimodal</a:t>
              </a: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 sensor </a:t>
              </a:r>
              <a:r>
                <a:rPr b="0"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data to</a:t>
              </a: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 fine-tune a validated, </a:t>
              </a: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publicly</a:t>
              </a: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available</a:t>
              </a: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 model for our specific </a:t>
              </a: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population.</a:t>
              </a:r>
              <a:endParaRPr sz="1000">
                <a:solidFill>
                  <a:srgbClr val="E1F5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1F5FE"/>
                </a:buClr>
                <a:buSzPts val="1000"/>
                <a:buFont typeface="Roboto"/>
                <a:buAutoNum type="arabicPeriod"/>
              </a:pP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Feasibility and compliance data</a:t>
              </a:r>
              <a:endParaRPr sz="1000">
                <a:solidFill>
                  <a:srgbClr val="E1F5F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1F5FE"/>
                </a:buClr>
                <a:buSzPts val="1000"/>
                <a:buFont typeface="Roboto"/>
                <a:buAutoNum type="arabicPeriod"/>
              </a:pP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User experience data for better app </a:t>
              </a:r>
              <a:r>
                <a:rPr lang="en" sz="1000">
                  <a:solidFill>
                    <a:srgbClr val="E1F5FE"/>
                  </a:solidFill>
                  <a:latin typeface="Roboto"/>
                  <a:ea typeface="Roboto"/>
                  <a:cs typeface="Roboto"/>
                  <a:sym typeface="Roboto"/>
                </a:rPr>
                <a:t>design</a:t>
              </a:r>
              <a:endParaRPr sz="1000">
                <a:solidFill>
                  <a:srgbClr val="E1F5F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