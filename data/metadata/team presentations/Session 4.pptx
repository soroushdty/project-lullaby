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Dc5XQLCJbDWH4s+dFveLTrAiK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5022ac0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e55022ac0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55022ac0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3e55022ac0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55022ac0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55022ac0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55022ac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55022ac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55022ac0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55022ac0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55022ac0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55022ac0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55022ac0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55022ac0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55022ac0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55022ac0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5022ac08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55022ac0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55022ac0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55022ac0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55022ac08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55022ac08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" name="Google Shape;16;p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8" name="Google Shape;18;p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/>
              <a:t>Data Analysis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"/>
              <a:t>[Session 4]</a:t>
            </a:r>
            <a:endParaRPr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146950" y="2834125"/>
            <a:ext cx="8685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Group number: 3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Case title: Lullaby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Group members: Casey Filler &amp; Soroush Dianaty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55022ac08_0_69"/>
          <p:cNvSpPr/>
          <p:nvPr/>
        </p:nvSpPr>
        <p:spPr>
          <a:xfrm>
            <a:off x="381000" y="285750"/>
            <a:ext cx="8382000" cy="76200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e55022ac08_0_69"/>
          <p:cNvSpPr txBox="1"/>
          <p:nvPr/>
        </p:nvSpPr>
        <p:spPr>
          <a:xfrm>
            <a:off x="571500" y="2857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Primary Analysis: </a:t>
            </a:r>
            <a:r>
              <a:rPr b="0" lang="en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and conduct analyses to answer case study hypothesis questions.</a:t>
            </a:r>
            <a:endParaRPr b="1"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4" name="Google Shape;64;g3e55022ac08_0_69"/>
          <p:cNvGrpSpPr/>
          <p:nvPr/>
        </p:nvGrpSpPr>
        <p:grpSpPr>
          <a:xfrm>
            <a:off x="381000" y="1333500"/>
            <a:ext cx="4048200" cy="3429000"/>
            <a:chOff x="381000" y="1333500"/>
            <a:chExt cx="4048200" cy="3429000"/>
          </a:xfrm>
        </p:grpSpPr>
        <p:sp>
          <p:nvSpPr>
            <p:cNvPr id="65" name="Google Shape;65;g3e55022ac08_0_69"/>
            <p:cNvSpPr/>
            <p:nvPr/>
          </p:nvSpPr>
          <p:spPr>
            <a:xfrm>
              <a:off x="381000" y="1333500"/>
              <a:ext cx="4048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g3e55022ac08_0_69"/>
            <p:cNvSpPr/>
            <p:nvPr/>
          </p:nvSpPr>
          <p:spPr>
            <a:xfrm>
              <a:off x="381000" y="1333500"/>
              <a:ext cx="4048200" cy="571500"/>
            </a:xfrm>
            <a:prstGeom prst="roundRect">
              <a:avLst>
                <a:gd fmla="val 2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g3e55022ac08_0_69"/>
            <p:cNvSpPr/>
            <p:nvPr/>
          </p:nvSpPr>
          <p:spPr>
            <a:xfrm>
              <a:off x="381000" y="1714500"/>
              <a:ext cx="4048200" cy="1905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g3e55022ac08_0_69"/>
            <p:cNvSpPr txBox="1"/>
            <p:nvPr/>
          </p:nvSpPr>
          <p:spPr>
            <a:xfrm>
              <a:off x="571500" y="1333500"/>
              <a:ext cx="36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1. Exploratory Analysis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" name="Google Shape;69;g3e55022ac08_0_69"/>
            <p:cNvSpPr txBox="1"/>
            <p:nvPr/>
          </p:nvSpPr>
          <p:spPr>
            <a:xfrm>
              <a:off x="619125" y="2047875"/>
              <a:ext cx="3571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Total Pregnancies (Gravida)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563EB"/>
                  </a:solidFill>
                  <a:highlight>
                    <a:srgbClr val="EFF6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Median = 2</a:t>
              </a:r>
              <a:endParaRPr sz="1600">
                <a:solidFill>
                  <a:srgbClr val="2563EB"/>
                </a:solidFill>
                <a:highlight>
                  <a:srgbClr val="EFF6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Mean: 1 | Max: 6</a:t>
              </a:r>
              <a:endParaRPr sz="1100">
                <a:solidFill>
                  <a:srgbClr val="64748B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Delivery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563EB"/>
                  </a:solidFill>
                  <a:highlight>
                    <a:srgbClr val="EFF6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Min: 0 | Max: 3</a:t>
              </a:r>
              <a:endParaRPr sz="1600">
                <a:solidFill>
                  <a:srgbClr val="2563EB"/>
                </a:solidFill>
                <a:highlight>
                  <a:srgbClr val="EFF6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70" name="Google Shape;70;g3e55022ac08_0_69"/>
          <p:cNvGrpSpPr/>
          <p:nvPr/>
        </p:nvGrpSpPr>
        <p:grpSpPr>
          <a:xfrm>
            <a:off x="4714875" y="1333500"/>
            <a:ext cx="4048200" cy="3429000"/>
            <a:chOff x="4714875" y="1333500"/>
            <a:chExt cx="4048200" cy="3429000"/>
          </a:xfrm>
        </p:grpSpPr>
        <p:sp>
          <p:nvSpPr>
            <p:cNvPr id="71" name="Google Shape;71;g3e55022ac08_0_69"/>
            <p:cNvSpPr/>
            <p:nvPr/>
          </p:nvSpPr>
          <p:spPr>
            <a:xfrm>
              <a:off x="4714875" y="1333500"/>
              <a:ext cx="4048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e55022ac08_0_69"/>
            <p:cNvSpPr/>
            <p:nvPr/>
          </p:nvSpPr>
          <p:spPr>
            <a:xfrm>
              <a:off x="4714875" y="1333500"/>
              <a:ext cx="4048200" cy="571500"/>
            </a:xfrm>
            <a:prstGeom prst="roundRect">
              <a:avLst>
                <a:gd fmla="val 2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e55022ac08_0_69"/>
            <p:cNvSpPr/>
            <p:nvPr/>
          </p:nvSpPr>
          <p:spPr>
            <a:xfrm>
              <a:off x="4714875" y="1714500"/>
              <a:ext cx="4048200" cy="1905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e55022ac08_0_69"/>
            <p:cNvSpPr txBox="1"/>
            <p:nvPr/>
          </p:nvSpPr>
          <p:spPr>
            <a:xfrm>
              <a:off x="4905375" y="1333500"/>
              <a:ext cx="36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2. Multivariate Logistic Regression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" name="Google Shape;75;g3e55022ac08_0_69"/>
            <p:cNvSpPr txBox="1"/>
            <p:nvPr/>
          </p:nvSpPr>
          <p:spPr>
            <a:xfrm>
              <a:off x="4905375" y="2047875"/>
              <a:ext cx="36672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Validates algorithm in our specific population.</a:t>
              </a:r>
              <a:endParaRPr i="1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Primary Outcome Binary:</a:t>
              </a: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Y/N CV Event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b="1" lang="en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Multiple Predictors:</a:t>
              </a: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Utilized for robustness.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Inter"/>
                <a:buChar char="●"/>
              </a:pP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Determines if combinations of physiologic and behavioral variables associate with </a:t>
              </a:r>
              <a:r>
                <a:rPr b="1" lang="en" sz="12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increased odds</a:t>
              </a:r>
              <a:r>
                <a:rPr lang="en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a PP CV event.</a:t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5022ac08_0_140"/>
          <p:cNvSpPr/>
          <p:nvPr/>
        </p:nvSpPr>
        <p:spPr>
          <a:xfrm>
            <a:off x="381000" y="285750"/>
            <a:ext cx="8382000" cy="762000"/>
          </a:xfrm>
          <a:prstGeom prst="roundRect">
            <a:avLst>
              <a:gd fmla="val 1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e55022ac08_0_140"/>
          <p:cNvSpPr txBox="1"/>
          <p:nvPr>
            <p:ph type="title"/>
          </p:nvPr>
        </p:nvSpPr>
        <p:spPr>
          <a:xfrm>
            <a:off x="571500" y="285750"/>
            <a:ext cx="8001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Secondary Analysis: </a:t>
            </a:r>
            <a:r>
              <a:rPr b="0" lang="en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Future studies and additional data insights.</a:t>
            </a:r>
            <a:endParaRPr b="1" sz="2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2" name="Google Shape;82;g3e55022ac08_0_140"/>
          <p:cNvGrpSpPr/>
          <p:nvPr/>
        </p:nvGrpSpPr>
        <p:grpSpPr>
          <a:xfrm>
            <a:off x="381000" y="1333500"/>
            <a:ext cx="4048200" cy="3429000"/>
            <a:chOff x="381000" y="1333500"/>
            <a:chExt cx="4048200" cy="3429000"/>
          </a:xfrm>
        </p:grpSpPr>
        <p:sp>
          <p:nvSpPr>
            <p:cNvPr id="83" name="Google Shape;83;g3e55022ac08_0_140"/>
            <p:cNvSpPr/>
            <p:nvPr/>
          </p:nvSpPr>
          <p:spPr>
            <a:xfrm>
              <a:off x="381000" y="1333500"/>
              <a:ext cx="4048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e55022ac08_0_140"/>
            <p:cNvSpPr/>
            <p:nvPr/>
          </p:nvSpPr>
          <p:spPr>
            <a:xfrm>
              <a:off x="381000" y="1333500"/>
              <a:ext cx="4048200" cy="571500"/>
            </a:xfrm>
            <a:prstGeom prst="roundRect">
              <a:avLst>
                <a:gd fmla="val 2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e55022ac08_0_140"/>
            <p:cNvSpPr/>
            <p:nvPr/>
          </p:nvSpPr>
          <p:spPr>
            <a:xfrm>
              <a:off x="381000" y="1714500"/>
              <a:ext cx="4048200" cy="1905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e55022ac08_0_140"/>
            <p:cNvSpPr txBox="1"/>
            <p:nvPr/>
          </p:nvSpPr>
          <p:spPr>
            <a:xfrm>
              <a:off x="571500" y="1333500"/>
              <a:ext cx="36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1. Adherence &amp; Engagement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7" name="Google Shape;87;g3e55022ac08_0_140"/>
            <p:cNvSpPr txBox="1"/>
            <p:nvPr/>
          </p:nvSpPr>
          <p:spPr>
            <a:xfrm>
              <a:off x="619125" y="2047875"/>
              <a:ext cx="35718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Predictors of Disengagement: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Wear time &amp; scale adherence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Survey completion &amp; reminder response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Mental health &amp; social support measures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Goal: </a:t>
              </a:r>
              <a:r>
                <a:rPr b="0" i="1" lang="en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Design adaptive strategies and smarter reminder systems.</a:t>
              </a:r>
              <a:endParaRPr b="1" sz="1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8" name="Google Shape;88;g3e55022ac08_0_140"/>
          <p:cNvGrpSpPr/>
          <p:nvPr/>
        </p:nvGrpSpPr>
        <p:grpSpPr>
          <a:xfrm>
            <a:off x="4714875" y="1333500"/>
            <a:ext cx="4048200" cy="3429000"/>
            <a:chOff x="4714875" y="1333500"/>
            <a:chExt cx="4048200" cy="3429000"/>
          </a:xfrm>
        </p:grpSpPr>
        <p:sp>
          <p:nvSpPr>
            <p:cNvPr id="89" name="Google Shape;89;g3e55022ac08_0_140"/>
            <p:cNvSpPr/>
            <p:nvPr/>
          </p:nvSpPr>
          <p:spPr>
            <a:xfrm>
              <a:off x="4714875" y="1333500"/>
              <a:ext cx="4048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e55022ac08_0_140"/>
            <p:cNvSpPr/>
            <p:nvPr/>
          </p:nvSpPr>
          <p:spPr>
            <a:xfrm>
              <a:off x="4714875" y="1333500"/>
              <a:ext cx="4048200" cy="571500"/>
            </a:xfrm>
            <a:prstGeom prst="roundRect">
              <a:avLst>
                <a:gd fmla="val 2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e55022ac08_0_140"/>
            <p:cNvSpPr/>
            <p:nvPr/>
          </p:nvSpPr>
          <p:spPr>
            <a:xfrm>
              <a:off x="4714875" y="1714500"/>
              <a:ext cx="4048200" cy="1905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e55022ac08_0_140"/>
            <p:cNvSpPr txBox="1"/>
            <p:nvPr/>
          </p:nvSpPr>
          <p:spPr>
            <a:xfrm>
              <a:off x="4905375" y="1333500"/>
              <a:ext cx="3667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2. Behavioral Response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3" name="Google Shape;93;g3e55022ac08_0_140"/>
            <p:cNvSpPr txBox="1"/>
            <p:nvPr/>
          </p:nvSpPr>
          <p:spPr>
            <a:xfrm>
              <a:off x="4905375" y="2047875"/>
              <a:ext cx="36672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Multimodal Alert Monitoring: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Analyzing reactions to repeated alerts over time.</a:t>
              </a:r>
              <a:endParaRPr i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Alert frequency &amp; hotline calls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App interaction logs &amp; response time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59669"/>
                </a:buClr>
                <a:buSzPts val="1100"/>
                <a:buFont typeface="Inter"/>
                <a:buChar char="●"/>
              </a:pPr>
              <a:r>
                <a:rPr b="1" lang="en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Combine multiple data streams for comprehensive understanding.</a:t>
              </a:r>
              <a:endParaRPr b="1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55022ac08_0_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55022ac08_0_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55022ac08_0_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55022ac08_0_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55022ac08_0_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g3e55022ac08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919" y="0"/>
            <a:ext cx="868416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55022ac08_0_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e55022ac08_0_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55022ac08_0_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55022ac08_0_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55022ac08_0_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g3e55022ac0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523" y="0"/>
            <a:ext cx="846095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55022ac08_0_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55022ac08_0_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55022ac08_0_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55022ac08_0_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e55022ac08_0_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g3e55022ac0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62" y="0"/>
            <a:ext cx="858507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55022ac08_0_3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55022ac08_0_3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55022ac08_0_36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55022ac08_0_3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55022ac08_0_36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g3e55022ac08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64" y="0"/>
            <a:ext cx="82618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55022ac08_0_4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55022ac08_0_45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55022ac08_0_45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55022ac08_0_4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55022ac08_0_45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g3e55022ac08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160"/>
            <a:ext cx="9144003" cy="429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3e55022ac08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819" y="0"/>
            <a:ext cx="618636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55022ac08_0_2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55022ac08_0_223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55022ac08_0_223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55022ac08_0_2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55022ac08_0_223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g3e55022ac08_0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68" y="0"/>
            <a:ext cx="891946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55022ac08_0_54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55022ac08_0_54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g3e55022ac08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4967"/>
            <a:ext cx="8516551" cy="350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55022ac08_0_214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55022ac08_0_214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g3e55022ac08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8939"/>
            <a:ext cx="9143999" cy="2965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1400"/>
              <a:t>Challenges</a:t>
            </a:r>
            <a:r>
              <a:rPr lang="en" sz="1400">
                <a:solidFill>
                  <a:schemeClr val="dk1"/>
                </a:solidFill>
              </a:rPr>
              <a:t>: </a:t>
            </a:r>
            <a:r>
              <a:rPr lang="en" sz="1400"/>
              <a:t>How do you make sure that the data integration/curation and missing data handling techniques are solid and do not impact the performance of your downstream analytics?</a:t>
            </a:r>
            <a:endParaRPr sz="1400"/>
          </a:p>
        </p:txBody>
      </p:sp>
      <p:sp>
        <p:nvSpPr>
          <p:cNvPr id="178" name="Google Shape;178;p4"/>
          <p:cNvSpPr txBox="1"/>
          <p:nvPr>
            <p:ph idx="2" type="body"/>
          </p:nvPr>
        </p:nvSpPr>
        <p:spPr>
          <a:xfrm>
            <a:off x="629860" y="1268049"/>
            <a:ext cx="8124900" cy="3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Synchronize data from different sources into unified longitudinal structure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cleaning/quality control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Detect physiologically impossible valuables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motion artifact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synchronization gaps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wear/non-wear detection to </a:t>
            </a:r>
            <a:r>
              <a:rPr lang="en"/>
              <a:t>track when devices are worn/removed to prevent treating missing data as a physiologic reading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Short vs. longer missing intervals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Rolling averages for short gaps in wearable interruptions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Different approaches for longer missing intervals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Sensitivity analyses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Complete-case analysis (remove those with too much missing data)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imputation (estimate missing values)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Forward-fill interpolation (use nearby physiologic values)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