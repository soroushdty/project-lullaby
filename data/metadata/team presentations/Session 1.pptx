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209dd921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e209dd921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09dd921e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e209dd921e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09dd921e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209dd921e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09dd921e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209dd921e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209dd921e_2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209dd921e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209dd921e_2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209dd921e_2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0bf7bada_33_0)">
  <p:cSld name="Generated (g3e20bf7bada_33_0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8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4"/>
          <p:cNvGrpSpPr/>
          <p:nvPr/>
        </p:nvGrpSpPr>
        <p:grpSpPr>
          <a:xfrm>
            <a:off x="-952500" y="-952500"/>
            <a:ext cx="11525250" cy="7524750"/>
            <a:chOff x="-952500" y="-952500"/>
            <a:chExt cx="11525250" cy="7524750"/>
          </a:xfrm>
        </p:grpSpPr>
        <p:sp>
          <p:nvSpPr>
            <p:cNvPr id="70" name="Google Shape;70;p14"/>
            <p:cNvSpPr/>
            <p:nvPr/>
          </p:nvSpPr>
          <p:spPr>
            <a:xfrm>
              <a:off x="7715250" y="3714750"/>
              <a:ext cx="2857500" cy="28575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-952500" y="-952500"/>
              <a:ext cx="1905000" cy="19050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/>
          <p:nvPr/>
        </p:nvSpPr>
        <p:spPr>
          <a:xfrm>
            <a:off x="2667000" y="3095625"/>
            <a:ext cx="3810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762000" y="1143000"/>
            <a:ext cx="7620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Designing Digital Health Interventions</a:t>
            </a:r>
            <a:endParaRPr b="1" sz="372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248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Session 1</a:t>
            </a:r>
            <a:endParaRPr b="0" sz="2480">
              <a:solidFill>
                <a:srgbClr val="3B82F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762000" y="3333750"/>
            <a:ext cx="762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 fontScale="8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" sz="2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3: Casey Filler, Soroush Dianaty</a:t>
            </a:r>
            <a:endParaRPr b="0" sz="20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Lullaby: A Low-Burden Digital Health Intervention for Postpartum Hypertension Monitoring in Heat-Stressed Safety-Net Communities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Engagement Strategy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Anchoring strategy in behavioral theory and community-based participatory models.</a:t>
            </a:r>
            <a:endParaRPr b="0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381000" y="952500"/>
            <a:ext cx="4095900" cy="3810000"/>
            <a:chOff x="381000" y="952500"/>
            <a:chExt cx="4095900" cy="3810000"/>
          </a:xfrm>
        </p:grpSpPr>
        <p:sp>
          <p:nvSpPr>
            <p:cNvPr id="82" name="Google Shape;82;p15"/>
            <p:cNvSpPr/>
            <p:nvPr/>
          </p:nvSpPr>
          <p:spPr>
            <a:xfrm>
              <a:off x="38100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571500" y="1143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Social Cognitive Theory (SCT)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209" l="0" r="0" t="209"/>
          <a:stretch/>
        </p:blipFill>
        <p:spPr>
          <a:xfrm>
            <a:off x="571500" y="1714500"/>
            <a:ext cx="3714900" cy="2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5"/>
          <p:cNvGrpSpPr/>
          <p:nvPr/>
        </p:nvGrpSpPr>
        <p:grpSpPr>
          <a:xfrm>
            <a:off x="4667250" y="952500"/>
            <a:ext cx="4095900" cy="3810000"/>
            <a:chOff x="4667250" y="952500"/>
            <a:chExt cx="4095900" cy="3810000"/>
          </a:xfrm>
        </p:grpSpPr>
        <p:sp>
          <p:nvSpPr>
            <p:cNvPr id="86" name="Google Shape;86;p15"/>
            <p:cNvSpPr/>
            <p:nvPr/>
          </p:nvSpPr>
          <p:spPr>
            <a:xfrm>
              <a:off x="466725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4857750" y="1143000"/>
              <a:ext cx="3714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Community Engagement (CBPR)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Pre-Development Phase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Focus Groups: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Postpartum mothers to understand knowledge gaps.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Key Inquiries: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Knowledge of health risks, CV symptoms, crisis action steps, and daily struggles (emotional, financial, social).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Accessibility: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Hybrid participation options (in-person with childcare or virtual).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6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Feature Translation &amp; Accessibility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Defining digital technology functions and behavioral strategy integration.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381000" y="952500"/>
            <a:ext cx="4095900" cy="3810000"/>
            <a:chOff x="381000" y="952500"/>
            <a:chExt cx="4095900" cy="3810000"/>
          </a:xfrm>
        </p:grpSpPr>
        <p:sp>
          <p:nvSpPr>
            <p:cNvPr id="96" name="Google Shape;96;p16"/>
            <p:cNvSpPr/>
            <p:nvPr/>
          </p:nvSpPr>
          <p:spPr>
            <a:xfrm>
              <a:off x="38100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571500" y="1143000"/>
              <a:ext cx="3714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What will it do?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Predictive Monitoring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App integrates data from smart scale (daily weight/water) and wrist sensor (BP, HR, RR, temp, sleep) to predict real-time CV events.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Interactive Triage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Symptom survey prompts if criteria met (headache, vision, etc.)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Direct nurse hotline connection for emergency assessment (ED vs 911)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Non-emergent suggestions: BP re-check, breathing, or education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4667250" y="952500"/>
            <a:ext cx="4095900" cy="3810000"/>
            <a:chOff x="4667250" y="952500"/>
            <a:chExt cx="4095900" cy="3810000"/>
          </a:xfrm>
        </p:grpSpPr>
        <p:sp>
          <p:nvSpPr>
            <p:cNvPr id="99" name="Google Shape;99;p16"/>
            <p:cNvSpPr/>
            <p:nvPr/>
          </p:nvSpPr>
          <p:spPr>
            <a:xfrm>
              <a:off x="466725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4857750" y="1143000"/>
              <a:ext cx="3714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Behavioral Strategies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Habit Formation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Incentivized adherence using gift cards or diapers for consistent BP and wearable monitoring.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Passive Monitoring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Minimize cognitive load: user interaction only required when risk is detected.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Health Knowledge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Just-in-time education delivered only when relevant to maintain focus and avoid overwhelm.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Technology Development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Phased prototyping, user testing, and performance metrics for deployment readiness.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7"/>
          <p:cNvGrpSpPr/>
          <p:nvPr/>
        </p:nvGrpSpPr>
        <p:grpSpPr>
          <a:xfrm>
            <a:off x="333375" y="1000125"/>
            <a:ext cx="4143300" cy="3905400"/>
            <a:chOff x="333375" y="1000125"/>
            <a:chExt cx="4143300" cy="3905400"/>
          </a:xfrm>
        </p:grpSpPr>
        <p:sp>
          <p:nvSpPr>
            <p:cNvPr id="109" name="Google Shape;109;p17"/>
            <p:cNvSpPr/>
            <p:nvPr/>
          </p:nvSpPr>
          <p:spPr>
            <a:xfrm>
              <a:off x="333375" y="1000125"/>
              <a:ext cx="4143300" cy="3905400"/>
            </a:xfrm>
            <a:prstGeom prst="roundRect">
              <a:avLst>
                <a:gd fmla="val 292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523875" y="1190625"/>
              <a:ext cx="37623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Prototype Development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MVP:</a:t>
              </a: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Bluetooth data ingestion from scale and wrist sensors.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Risk Identification:</a:t>
              </a: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Real-time detection of physiologic metrics predictive of CV events.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Interactive Survey:</a:t>
              </a: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Automated prompts for symptom surveys upon detected risk.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Smart Triage:</a:t>
              </a: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Differentiates emergent vs. non-emergent cases using hybrid data.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Nurse Hotline:</a:t>
              </a: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Automated redirection for emergencies or educational support for low-risk cases.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4667250" y="1000125"/>
            <a:ext cx="4143300" cy="3905400"/>
            <a:chOff x="4667250" y="1000125"/>
            <a:chExt cx="4143300" cy="3905400"/>
          </a:xfrm>
        </p:grpSpPr>
        <p:sp>
          <p:nvSpPr>
            <p:cNvPr id="112" name="Google Shape;112;p17"/>
            <p:cNvSpPr/>
            <p:nvPr/>
          </p:nvSpPr>
          <p:spPr>
            <a:xfrm>
              <a:off x="4667250" y="1000125"/>
              <a:ext cx="4143300" cy="3905400"/>
            </a:xfrm>
            <a:prstGeom prst="roundRect">
              <a:avLst>
                <a:gd fmla="val 292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4857750" y="1190625"/>
              <a:ext cx="37623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Testing &amp; Success Metrics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Co-design Studios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Target user workshops to refine prompt wording and educational video content.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AI Simulation (Cynthia)</a:t>
              </a:r>
              <a:endParaRPr b="1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Synthetic data modeling of real-world patient demographics to validate algorithm accuracy.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Ready for Phase 2 If: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369A1"/>
                  </a:solidFill>
                  <a:highlight>
                    <a:srgbClr val="F0F9FF"/>
                  </a:highlight>
                  <a:latin typeface="Arial"/>
                  <a:ea typeface="Arial"/>
                  <a:cs typeface="Arial"/>
                  <a:sym typeface="Arial"/>
                </a:rPr>
                <a:t>&gt;80% Accuracy</a:t>
              </a:r>
              <a:endParaRPr b="1" sz="1100">
                <a:solidFill>
                  <a:srgbClr val="0369A1"/>
                </a:solidFill>
                <a:highlight>
                  <a:srgbClr val="F0F9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C4A6E"/>
                  </a:solidFill>
                  <a:highlight>
                    <a:srgbClr val="F0F9FF"/>
                  </a:highlight>
                  <a:latin typeface="Arial"/>
                  <a:ea typeface="Arial"/>
                  <a:cs typeface="Arial"/>
                  <a:sym typeface="Arial"/>
                </a:rPr>
                <a:t>in correctly identifying emergent situations.</a:t>
              </a:r>
              <a:endParaRPr b="0" sz="1000">
                <a:solidFill>
                  <a:srgbClr val="0C4A6E"/>
                </a:solidFill>
                <a:highlight>
                  <a:srgbClr val="F0F9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19" name="Google Shape;119;p1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Designing for Scalability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Redesigning strategy to reach larger populations while balancing scientific compromises.</a:t>
              </a:r>
              <a:endParaRPr b="0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381000" y="952500"/>
            <a:ext cx="4095900" cy="3810000"/>
            <a:chOff x="381000" y="952500"/>
            <a:chExt cx="4095900" cy="3810000"/>
          </a:xfrm>
        </p:grpSpPr>
        <p:sp>
          <p:nvSpPr>
            <p:cNvPr id="122" name="Google Shape;122;p18"/>
            <p:cNvSpPr/>
            <p:nvPr/>
          </p:nvSpPr>
          <p:spPr>
            <a:xfrm>
              <a:off x="38100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571500" y="1143000"/>
              <a:ext cx="37149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Growth Strategy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Implementation Pivot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Physicians recommend devices and app download at follow-up appointments.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Adaptive Co-Design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Studios with diverse environments/SES to design educational videos and prompts.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Elicit responses specific to the population of interest.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18"/>
          <p:cNvGrpSpPr/>
          <p:nvPr/>
        </p:nvGrpSpPr>
        <p:grpSpPr>
          <a:xfrm>
            <a:off x="4667250" y="952500"/>
            <a:ext cx="4095900" cy="3810000"/>
            <a:chOff x="4667250" y="952500"/>
            <a:chExt cx="4095900" cy="3810000"/>
          </a:xfrm>
        </p:grpSpPr>
        <p:sp>
          <p:nvSpPr>
            <p:cNvPr id="125" name="Google Shape;125;p18"/>
            <p:cNvSpPr/>
            <p:nvPr/>
          </p:nvSpPr>
          <p:spPr>
            <a:xfrm>
              <a:off x="4667250" y="952500"/>
              <a:ext cx="4095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4857750" y="1143000"/>
              <a:ext cx="37149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Scientific Compromises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Hardware Feasibility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Smart scale in every home is less feasible at scale.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Data Integrity Impact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Potential loss of edema data; reliance solely on wrist-worn sensors.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Resource Constraints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Increased budget requirement for nurse availability.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&amp; Resource Allocation</a:t>
            </a:r>
            <a:endParaRPr b="1"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Justification of funding needs for technology design, hardware procurement, and expert development.</a:t>
            </a:r>
            <a:endParaRPr b="0" sz="11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81000" y="1143000"/>
            <a:ext cx="8382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381000" y="1619250"/>
            <a:ext cx="8382000" cy="428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666750" y="12858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Funding Breakdown</a:t>
            </a:r>
            <a:endParaRPr b="1" sz="1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66750" y="1666875"/>
            <a:ext cx="2381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Item Description</a:t>
            </a:r>
            <a:endParaRPr b="1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3048000" y="1666875"/>
            <a:ext cx="1905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Estimated Budget</a:t>
            </a:r>
            <a:endParaRPr b="1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953000" y="1666875"/>
            <a:ext cx="352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Source / Justification</a:t>
            </a:r>
            <a:endParaRPr b="1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666750" y="2047875"/>
            <a:ext cx="7810650" cy="333375"/>
            <a:chOff x="666750" y="2047875"/>
            <a:chExt cx="7810650" cy="333375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666750" y="2047875"/>
              <a:ext cx="238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Smart wristband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3048000" y="2047875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~$50 each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4953000" y="2047875"/>
              <a:ext cx="3524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Amazon - Essential for biometric tracking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" name="Google Shape;144;p19"/>
            <p:cNvCxnSpPr/>
            <p:nvPr/>
          </p:nvCxnSpPr>
          <p:spPr>
            <a:xfrm>
              <a:off x="666750" y="2381250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5" name="Google Shape;145;p19"/>
          <p:cNvGrpSpPr/>
          <p:nvPr/>
        </p:nvGrpSpPr>
        <p:grpSpPr>
          <a:xfrm>
            <a:off x="666750" y="2428875"/>
            <a:ext cx="7810650" cy="333375"/>
            <a:chOff x="666750" y="2428875"/>
            <a:chExt cx="7810650" cy="333375"/>
          </a:xfrm>
        </p:grpSpPr>
        <p:sp>
          <p:nvSpPr>
            <p:cNvPr id="146" name="Google Shape;146;p19"/>
            <p:cNvSpPr txBox="1"/>
            <p:nvPr/>
          </p:nvSpPr>
          <p:spPr>
            <a:xfrm>
              <a:off x="666750" y="2428875"/>
              <a:ext cx="238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Smart scale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9"/>
            <p:cNvSpPr txBox="1"/>
            <p:nvPr/>
          </p:nvSpPr>
          <p:spPr>
            <a:xfrm>
              <a:off x="3048000" y="2428875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~$20 each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4953000" y="2428875"/>
              <a:ext cx="3524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Amazon - Daily weight and water monitoring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19"/>
            <p:cNvCxnSpPr/>
            <p:nvPr/>
          </p:nvCxnSpPr>
          <p:spPr>
            <a:xfrm>
              <a:off x="666750" y="2762250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0" name="Google Shape;150;p19"/>
          <p:cNvGrpSpPr/>
          <p:nvPr/>
        </p:nvGrpSpPr>
        <p:grpSpPr>
          <a:xfrm>
            <a:off x="666750" y="2809875"/>
            <a:ext cx="7810650" cy="333375"/>
            <a:chOff x="666750" y="2809875"/>
            <a:chExt cx="7810650" cy="333375"/>
          </a:xfrm>
        </p:grpSpPr>
        <p:sp>
          <p:nvSpPr>
            <p:cNvPr id="151" name="Google Shape;151;p19"/>
            <p:cNvSpPr txBox="1"/>
            <p:nvPr/>
          </p:nvSpPr>
          <p:spPr>
            <a:xfrm>
              <a:off x="666750" y="2809875"/>
              <a:ext cx="238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Incentive Gift Cards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3048000" y="2809875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~$1</a:t>
              </a:r>
              <a:r>
                <a:rPr lang="en" sz="1000">
                  <a:solidFill>
                    <a:srgbClr val="475569"/>
                  </a:solidFill>
                </a:rPr>
                <a:t>5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0 each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4953000" y="2809875"/>
              <a:ext cx="3524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Adherence strategy for consistent monitoring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" name="Google Shape;154;p19"/>
            <p:cNvCxnSpPr/>
            <p:nvPr/>
          </p:nvCxnSpPr>
          <p:spPr>
            <a:xfrm>
              <a:off x="666750" y="3143250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5" name="Google Shape;155;p19"/>
          <p:cNvGrpSpPr/>
          <p:nvPr/>
        </p:nvGrpSpPr>
        <p:grpSpPr>
          <a:xfrm>
            <a:off x="666750" y="3190875"/>
            <a:ext cx="7810650" cy="333375"/>
            <a:chOff x="666750" y="3190875"/>
            <a:chExt cx="7810650" cy="333375"/>
          </a:xfrm>
        </p:grpSpPr>
        <p:sp>
          <p:nvSpPr>
            <p:cNvPr id="156" name="Google Shape;156;p19"/>
            <p:cNvSpPr txBox="1"/>
            <p:nvPr/>
          </p:nvSpPr>
          <p:spPr>
            <a:xfrm>
              <a:off x="666750" y="3190875"/>
              <a:ext cx="238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IoT Developer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3048000" y="3190875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~$</a:t>
              </a:r>
              <a:r>
                <a:rPr lang="en" sz="1000">
                  <a:solidFill>
                    <a:srgbClr val="475569"/>
                  </a:solidFill>
                </a:rPr>
                <a:t>5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,000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4953000" y="3190875"/>
              <a:ext cx="3524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Upwork - Backend &amp; ingestion logic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19"/>
            <p:cNvCxnSpPr/>
            <p:nvPr/>
          </p:nvCxnSpPr>
          <p:spPr>
            <a:xfrm>
              <a:off x="666750" y="3524250"/>
              <a:ext cx="7810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0" name="Google Shape;160;p19"/>
          <p:cNvGrpSpPr/>
          <p:nvPr/>
        </p:nvGrpSpPr>
        <p:grpSpPr>
          <a:xfrm>
            <a:off x="666750" y="3571875"/>
            <a:ext cx="7810650" cy="333300"/>
            <a:chOff x="666750" y="3571875"/>
            <a:chExt cx="7810650" cy="333300"/>
          </a:xfrm>
        </p:grpSpPr>
        <p:sp>
          <p:nvSpPr>
            <p:cNvPr id="161" name="Google Shape;161;p19"/>
            <p:cNvSpPr txBox="1"/>
            <p:nvPr/>
          </p:nvSpPr>
          <p:spPr>
            <a:xfrm>
              <a:off x="666750" y="3571875"/>
              <a:ext cx="2381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Hot-line compensation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3048000" y="3571875"/>
              <a:ext cx="1905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~$3,000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953000" y="3571875"/>
              <a:ext cx="3524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DoctorOnDemand - Professional emergency triage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191000"/>
            <a:ext cx="8382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66750" y="4191000"/>
            <a:ext cx="1428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Estimated Total:</a:t>
            </a:r>
            <a:endParaRPr b="1" sz="14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2168050" y="4191000"/>
            <a:ext cx="6309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~$8,000 + $220 per participant</a:t>
            </a:r>
            <a:endParaRPr b="1" sz="1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