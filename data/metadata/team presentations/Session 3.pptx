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nter"/>
      <p:bold r:id="rId13"/>
      <p:boldItalic r:id="rId14"/>
    </p:embeddedFont>
    <p:embeddedFont>
      <p:font typeface="Inter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j0ls/tiRlSOqhBhHhdJTEhL8dn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-bold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InterMedium-regular.fntdata"/><Relationship Id="rId14" Type="http://schemas.openxmlformats.org/officeDocument/2006/relationships/font" Target="fonts/Inter-boldItalic.fntdata"/><Relationship Id="rId17" Type="http://schemas.openxmlformats.org/officeDocument/2006/relationships/font" Target="fonts/InterMedium-italic.fntdata"/><Relationship Id="rId16" Type="http://schemas.openxmlformats.org/officeDocument/2006/relationships/font" Target="fonts/InterMedium-bold.fntdata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cc64751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cc64751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of births, # of pregnancies, type of birth (full term or pre-term), gestational age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cc64751c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cc64751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4cc64751c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Non-random missing data: participants remove wearable, skip weigh-ins, ignore symptom surveys → mothers are tired and stressed</a:t>
            </a:r>
            <a:endParaRPr sz="15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Overlapping physiologic symptoms → tachycardia, body temperature, dizziness</a:t>
            </a:r>
            <a:endParaRPr sz="15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Rare-event imbalance: low expected event rate of 3-7%, so our dataset will have more normal observations than emergencies → uncommon to have emergencies</a:t>
            </a:r>
            <a:endParaRPr sz="15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Sensor noise/measurement error → movement artifact, poor fit from wearable, sweating, charging interruptions, between-person differences</a:t>
            </a:r>
            <a:endParaRPr sz="15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Behavioral variability: participants differ in adherence, technology engagement, symptom reporting, trust</a:t>
            </a:r>
            <a:endParaRPr sz="15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Drift over 12 weeks: decline in adherence as time goes on (PP recovery will fluctuate, not a linear process usually); wearable engagement usually declines in longer studies</a:t>
            </a:r>
            <a:endParaRPr sz="15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500">
                <a:solidFill>
                  <a:srgbClr val="595959"/>
                </a:solidFill>
              </a:rPr>
              <a:t>Confounds: lactation-related fluid shifts, pain, stress, exercise</a:t>
            </a:r>
            <a:endParaRPr sz="800"/>
          </a:p>
        </p:txBody>
      </p:sp>
      <p:sp>
        <p:nvSpPr>
          <p:cNvPr id="137" name="Google Shape;137;g3e4cc64751c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cc64751c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e4cc64751c_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4cc64751c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e4cc64751c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" name="Google Shape;16;p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8" name="Google Shape;18;p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cc64751c_0_1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g3e4cc64751c_0_1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g3e4cc64751c_0_1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4cc64751c_0_6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g3e4cc64751c_0_6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g3e4cc64751c_0_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cc64751c_0_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g3e4cc64751c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4cc64751c_0_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g3e4cc64751c_0_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g3e4cc64751c_0_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4cc64751c_0_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g3e4cc64751c_0_8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3e4cc64751c_0_8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g3e4cc64751c_0_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cc64751c_0_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g3e4cc64751c_0_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4cc64751c_0_8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1" name="Google Shape;81;g3e4cc64751c_0_8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g3e4cc64751c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4cc64751c_0_9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g3e4cc64751c_0_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cc64751c_0_9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4cc64751c_0_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g3e4cc64751c_0_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g3e4cc64751c_0_9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g3e4cc64751c_0_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cc64751c_0_10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4" name="Google Shape;94;g3e4cc64751c_0_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cc64751c_0_10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7" name="Google Shape;97;g3e4cc64751c_0_10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g3e4cc64751c_0_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4cc64751c_0_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cc64751c_0_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g3e4cc64751c_0_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g3e4cc64751c_0_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Designing Digital Health Interventions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Session 3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46950" y="2834125"/>
            <a:ext cx="8685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Group number: 3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Case title: Lullaby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Group members: Casey Filler &amp; Soroush Dianaty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cc64751c_0_55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Baseline Data Collection</a:t>
            </a:r>
            <a:endParaRPr b="1" sz="3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2" name="Google Shape;112;g3e4cc64751c_0_55"/>
          <p:cNvGrpSpPr/>
          <p:nvPr/>
        </p:nvGrpSpPr>
        <p:grpSpPr>
          <a:xfrm>
            <a:off x="381000" y="1047750"/>
            <a:ext cx="4191000" cy="3810000"/>
            <a:chOff x="381000" y="1047750"/>
            <a:chExt cx="4191000" cy="3810000"/>
          </a:xfrm>
        </p:grpSpPr>
        <p:sp>
          <p:nvSpPr>
            <p:cNvPr id="113" name="Google Shape;113;g3e4cc64751c_0_55"/>
            <p:cNvSpPr/>
            <p:nvPr/>
          </p:nvSpPr>
          <p:spPr>
            <a:xfrm>
              <a:off x="381000" y="1047750"/>
              <a:ext cx="4191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e4cc64751c_0_55"/>
            <p:cNvSpPr txBox="1"/>
            <p:nvPr/>
          </p:nvSpPr>
          <p:spPr>
            <a:xfrm>
              <a:off x="571500" y="1238250"/>
              <a:ext cx="3810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Demographic &amp; Social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Age, ethnicity, income, housing, insurance, and substance use (smoking, alcohol, cannabis)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pregnant_woman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Gyn/OB History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GPA+TPAL, GA, delivery type, prior C-sections, PE/PIH, gestational diabetes, and pregnancy loss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medical_services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Medical &amp; Family History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Preeclampsia severity, BMI, CV history, hypertension, and family history of CV disease or stroke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" name="Google Shape;115;g3e4cc64751c_0_55"/>
          <p:cNvGrpSpPr/>
          <p:nvPr/>
        </p:nvGrpSpPr>
        <p:grpSpPr>
          <a:xfrm>
            <a:off x="4762500" y="1047750"/>
            <a:ext cx="4191000" cy="3810000"/>
            <a:chOff x="4762500" y="1047750"/>
            <a:chExt cx="4191000" cy="3810000"/>
          </a:xfrm>
        </p:grpSpPr>
        <p:sp>
          <p:nvSpPr>
            <p:cNvPr id="116" name="Google Shape;116;g3e4cc64751c_0_55"/>
            <p:cNvSpPr/>
            <p:nvPr/>
          </p:nvSpPr>
          <p:spPr>
            <a:xfrm>
              <a:off x="4762500" y="1047750"/>
              <a:ext cx="41910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e4cc64751c_0_55"/>
            <p:cNvSpPr txBox="1"/>
            <p:nvPr/>
          </p:nvSpPr>
          <p:spPr>
            <a:xfrm>
              <a:off x="4953000" y="1238250"/>
              <a:ext cx="38100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Mental Health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Edinburgh Postnatal Depression Scale (EPDS) &amp; Perinatal Anxiety Screening Scale (PASS)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Social Support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Multidimensional Scale of Perceived Social Support (MSPSS)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Health Literacy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Brief Health Literacy Screen (BHLS), 3 items administered at onboarding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cc64751c_0_110"/>
          <p:cNvSpPr txBox="1"/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Pilot Study Data Collection</a:t>
            </a:r>
            <a:endParaRPr b="1" sz="32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3" name="Google Shape;123;g3e4cc64751c_0_110"/>
          <p:cNvGrpSpPr/>
          <p:nvPr/>
        </p:nvGrpSpPr>
        <p:grpSpPr>
          <a:xfrm>
            <a:off x="381000" y="1143000"/>
            <a:ext cx="4000500" cy="3429000"/>
            <a:chOff x="381000" y="1143000"/>
            <a:chExt cx="4000500" cy="3429000"/>
          </a:xfrm>
        </p:grpSpPr>
        <p:sp>
          <p:nvSpPr>
            <p:cNvPr id="124" name="Google Shape;124;g3e4cc64751c_0_110"/>
            <p:cNvSpPr/>
            <p:nvPr/>
          </p:nvSpPr>
          <p:spPr>
            <a:xfrm>
              <a:off x="381000" y="1143000"/>
              <a:ext cx="4000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g3e4cc64751c_0_110"/>
            <p:cNvSpPr/>
            <p:nvPr/>
          </p:nvSpPr>
          <p:spPr>
            <a:xfrm>
              <a:off x="381000" y="1143000"/>
              <a:ext cx="4000500" cy="571500"/>
            </a:xfrm>
            <a:prstGeom prst="roundRect">
              <a:avLst>
                <a:gd fmla="val 26666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g3e4cc64751c_0_110"/>
            <p:cNvSpPr/>
            <p:nvPr/>
          </p:nvSpPr>
          <p:spPr>
            <a:xfrm>
              <a:off x="381000" y="1428750"/>
              <a:ext cx="4000500" cy="2859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g3e4cc64751c_0_110"/>
            <p:cNvSpPr txBox="1"/>
            <p:nvPr/>
          </p:nvSpPr>
          <p:spPr>
            <a:xfrm>
              <a:off x="381000" y="1143000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Active Monitoring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8" name="Google Shape;128;g3e4cc64751c_0_110"/>
            <p:cNvSpPr txBox="1"/>
            <p:nvPr/>
          </p:nvSpPr>
          <p:spPr>
            <a:xfrm>
              <a:off x="666750" y="18097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129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Daily Symptoms Survey</a:t>
              </a:r>
              <a:endParaRPr b="1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Participant-reported health status</a:t>
              </a:r>
              <a:endParaRPr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monitor_weight</a:t>
              </a:r>
              <a:endParaRPr sz="129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Smart Scale Metrics</a:t>
              </a:r>
              <a:endParaRPr b="1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Daily weight and total body water</a:t>
              </a:r>
              <a:endParaRPr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event_available</a:t>
              </a:r>
              <a:endParaRPr sz="129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Weekly Check-in</a:t>
              </a:r>
              <a:endParaRPr b="1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Scheduled virtual clinical reviews</a:t>
              </a:r>
              <a:endParaRPr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" name="Google Shape;129;g3e4cc64751c_0_110"/>
          <p:cNvGrpSpPr/>
          <p:nvPr/>
        </p:nvGrpSpPr>
        <p:grpSpPr>
          <a:xfrm>
            <a:off x="4762500" y="1143000"/>
            <a:ext cx="4000500" cy="3429000"/>
            <a:chOff x="4762500" y="1143000"/>
            <a:chExt cx="4000500" cy="3429000"/>
          </a:xfrm>
        </p:grpSpPr>
        <p:sp>
          <p:nvSpPr>
            <p:cNvPr id="130" name="Google Shape;130;g3e4cc64751c_0_110"/>
            <p:cNvSpPr/>
            <p:nvPr/>
          </p:nvSpPr>
          <p:spPr>
            <a:xfrm>
              <a:off x="4762500" y="1143000"/>
              <a:ext cx="4000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g3e4cc64751c_0_110"/>
            <p:cNvSpPr/>
            <p:nvPr/>
          </p:nvSpPr>
          <p:spPr>
            <a:xfrm>
              <a:off x="4762500" y="1143000"/>
              <a:ext cx="4000500" cy="571500"/>
            </a:xfrm>
            <a:prstGeom prst="roundRect">
              <a:avLst>
                <a:gd fmla="val 26666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g3e4cc64751c_0_110"/>
            <p:cNvSpPr/>
            <p:nvPr/>
          </p:nvSpPr>
          <p:spPr>
            <a:xfrm>
              <a:off x="4762500" y="1428750"/>
              <a:ext cx="4000500" cy="2859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g3e4cc64751c_0_110"/>
            <p:cNvSpPr txBox="1"/>
            <p:nvPr/>
          </p:nvSpPr>
          <p:spPr>
            <a:xfrm>
              <a:off x="4762500" y="1143000"/>
              <a:ext cx="400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Passive Monitoring</a:t>
              </a:r>
              <a:endParaRPr b="1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4" name="Google Shape;134;g3e4cc64751c_0_110"/>
            <p:cNvSpPr txBox="1"/>
            <p:nvPr/>
          </p:nvSpPr>
          <p:spPr>
            <a:xfrm>
              <a:off x="5048250" y="18097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watch</a:t>
              </a:r>
              <a:endParaRPr sz="129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Wrist Wearable Sensors</a:t>
              </a:r>
              <a:endParaRPr b="1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PR, RR, HRV, BP, SpO2, activity &amp; skin temperature</a:t>
              </a:r>
              <a:endParaRPr sz="92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smartphone</a:t>
              </a:r>
              <a:endParaRPr sz="129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App Interactions</a:t>
              </a:r>
              <a:endParaRPr b="1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Continuous UI/UX engagement data</a:t>
              </a:r>
              <a:endParaRPr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22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thermostat</a:t>
              </a:r>
              <a:endParaRPr sz="129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Environmental Data</a:t>
              </a:r>
              <a:endParaRPr b="1" sz="129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Ambient temperature via Weather API</a:t>
              </a:r>
              <a:endParaRPr sz="10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cc64751c_0_175"/>
          <p:cNvSpPr txBox="1"/>
          <p:nvPr>
            <p:ph type="title"/>
          </p:nvPr>
        </p:nvSpPr>
        <p:spPr>
          <a:xfrm>
            <a:off x="381000" y="2857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Challenges &amp; Realism</a:t>
            </a:r>
            <a:endParaRPr b="1" i="0" sz="28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0" name="Google Shape;140;g3e4cc64751c_0_175"/>
          <p:cNvGrpSpPr/>
          <p:nvPr/>
        </p:nvGrpSpPr>
        <p:grpSpPr>
          <a:xfrm>
            <a:off x="381000" y="1047750"/>
            <a:ext cx="8382000" cy="3619500"/>
            <a:chOff x="381000" y="1047750"/>
            <a:chExt cx="8382000" cy="3619500"/>
          </a:xfrm>
        </p:grpSpPr>
        <p:sp>
          <p:nvSpPr>
            <p:cNvPr id="141" name="Google Shape;141;g3e4cc64751c_0_175"/>
            <p:cNvSpPr/>
            <p:nvPr/>
          </p:nvSpPr>
          <p:spPr>
            <a:xfrm>
              <a:off x="381000" y="10477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e4cc64751c_0_175"/>
            <p:cNvSpPr txBox="1"/>
            <p:nvPr/>
          </p:nvSpPr>
          <p:spPr>
            <a:xfrm>
              <a:off x="571500" y="11906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assignment_late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Non-random Missing Data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Participants remove wearables or skip surveys because mothers are tired and stressed.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3" name="Google Shape;143;g3e4cc64751c_0_175"/>
            <p:cNvSpPr/>
            <p:nvPr/>
          </p:nvSpPr>
          <p:spPr>
            <a:xfrm>
              <a:off x="3238500" y="10477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g3e4cc64751c_0_175"/>
            <p:cNvSpPr txBox="1"/>
            <p:nvPr/>
          </p:nvSpPr>
          <p:spPr>
            <a:xfrm>
              <a:off x="3429000" y="11906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thermostat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Overlapping Symptoms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Tachycardia, body temperature, and dizziness overlap across physiologic conditions.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5" name="Google Shape;145;g3e4cc64751c_0_175"/>
            <p:cNvSpPr/>
            <p:nvPr/>
          </p:nvSpPr>
          <p:spPr>
            <a:xfrm>
              <a:off x="6096000" y="10477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g3e4cc64751c_0_175"/>
            <p:cNvSpPr txBox="1"/>
            <p:nvPr/>
          </p:nvSpPr>
          <p:spPr>
            <a:xfrm>
              <a:off x="6286500" y="11906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Rare-event Imbalance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Low event rate (3-7%); dataset has more normal observations than emergencies.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7" name="Google Shape;147;g3e4cc64751c_0_175"/>
            <p:cNvSpPr/>
            <p:nvPr/>
          </p:nvSpPr>
          <p:spPr>
            <a:xfrm>
              <a:off x="381000" y="29527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3e4cc64751c_0_175"/>
            <p:cNvSpPr txBox="1"/>
            <p:nvPr/>
          </p:nvSpPr>
          <p:spPr>
            <a:xfrm>
              <a:off x="571500" y="30956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hearing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Sensor Noise &amp; Error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Movement artifacts, poor wearable fit, and charging interruptions degrade data quality.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9" name="Google Shape;149;g3e4cc64751c_0_175"/>
            <p:cNvSpPr/>
            <p:nvPr/>
          </p:nvSpPr>
          <p:spPr>
            <a:xfrm>
              <a:off x="3238500" y="29527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e4cc64751c_0_175"/>
            <p:cNvSpPr txBox="1"/>
            <p:nvPr/>
          </p:nvSpPr>
          <p:spPr>
            <a:xfrm>
              <a:off x="3429000" y="30956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24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Adherence Drift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Decline in engagement over 12 weeks; recovery is non-linear and fluctuates.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1" name="Google Shape;151;g3e4cc64751c_0_175"/>
            <p:cNvSpPr/>
            <p:nvPr/>
          </p:nvSpPr>
          <p:spPr>
            <a:xfrm>
              <a:off x="6096000" y="29527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g3e4cc64751c_0_175"/>
            <p:cNvSpPr txBox="1"/>
            <p:nvPr/>
          </p:nvSpPr>
          <p:spPr>
            <a:xfrm>
              <a:off x="6286500" y="3095625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64748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64748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Confounds &amp; Variability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Lactation fluid shifts, pain, stress, and behavioral differences in reporting.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g3e4cc64751c_3_78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58" name="Google Shape;158;g3e4cc64751c_3_78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g3e4cc64751c_3_78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Synthetic Data Generation Strategy</a:t>
              </a:r>
              <a:endParaRPr b="1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0" name="Google Shape;160;g3e4cc64751c_3_78"/>
          <p:cNvSpPr txBox="1"/>
          <p:nvPr/>
        </p:nvSpPr>
        <p:spPr>
          <a:xfrm>
            <a:off x="381000" y="952500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Plan for generating realistic synthetic data for the maternal health case study, accounting for real-world variability and noise.</a:t>
            </a:r>
            <a:endParaRPr b="0"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1" name="Google Shape;161;g3e4cc64751c_3_78"/>
          <p:cNvGrpSpPr/>
          <p:nvPr/>
        </p:nvGrpSpPr>
        <p:grpSpPr>
          <a:xfrm>
            <a:off x="381000" y="1524000"/>
            <a:ext cx="4095900" cy="1238400"/>
            <a:chOff x="381000" y="1524000"/>
            <a:chExt cx="4095900" cy="1238400"/>
          </a:xfrm>
        </p:grpSpPr>
        <p:sp>
          <p:nvSpPr>
            <p:cNvPr id="162" name="Google Shape;162;g3e4cc64751c_3_78"/>
            <p:cNvSpPr/>
            <p:nvPr/>
          </p:nvSpPr>
          <p:spPr>
            <a:xfrm>
              <a:off x="381000" y="152400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g3e4cc64751c_3_78"/>
            <p:cNvSpPr txBox="1"/>
            <p:nvPr/>
          </p:nvSpPr>
          <p:spPr>
            <a:xfrm>
              <a:off x="571500" y="16960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185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g3e4cc64751c_3_78"/>
            <p:cNvSpPr txBox="1"/>
            <p:nvPr/>
          </p:nvSpPr>
          <p:spPr>
            <a:xfrm>
              <a:off x="952500" y="1619250"/>
              <a:ext cx="3333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Event Rate Modeling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Expected total event rate: 3-7%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Scaling: ~6-14 events per 200 participants.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5" name="Google Shape;165;g3e4cc64751c_3_78"/>
          <p:cNvGrpSpPr/>
          <p:nvPr/>
        </p:nvGrpSpPr>
        <p:grpSpPr>
          <a:xfrm>
            <a:off x="4667250" y="1524000"/>
            <a:ext cx="4095900" cy="1238400"/>
            <a:chOff x="4667250" y="1524000"/>
            <a:chExt cx="4095900" cy="1238400"/>
          </a:xfrm>
        </p:grpSpPr>
        <p:sp>
          <p:nvSpPr>
            <p:cNvPr id="166" name="Google Shape;166;g3e4cc64751c_3_78"/>
            <p:cNvSpPr/>
            <p:nvPr/>
          </p:nvSpPr>
          <p:spPr>
            <a:xfrm>
              <a:off x="4667250" y="152400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g3e4cc64751c_3_78"/>
            <p:cNvSpPr txBox="1"/>
            <p:nvPr/>
          </p:nvSpPr>
          <p:spPr>
            <a:xfrm>
              <a:off x="4857750" y="169608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error_outline</a:t>
              </a:r>
              <a:endParaRPr sz="185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8" name="Google Shape;168;g3e4cc64751c_3_78"/>
            <p:cNvSpPr txBox="1"/>
            <p:nvPr/>
          </p:nvSpPr>
          <p:spPr>
            <a:xfrm>
              <a:off x="5238750" y="1619250"/>
              <a:ext cx="3333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Sensor Data Realism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Simulate missingness from scales and wrist-worn sensors.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Models hardware failure &amp; intermittency.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g3e4cc64751c_3_78"/>
          <p:cNvGrpSpPr/>
          <p:nvPr/>
        </p:nvGrpSpPr>
        <p:grpSpPr>
          <a:xfrm>
            <a:off x="381000" y="2952750"/>
            <a:ext cx="4095900" cy="1238400"/>
            <a:chOff x="381000" y="2952750"/>
            <a:chExt cx="4095900" cy="1238400"/>
          </a:xfrm>
        </p:grpSpPr>
        <p:sp>
          <p:nvSpPr>
            <p:cNvPr id="170" name="Google Shape;170;g3e4cc64751c_3_78"/>
            <p:cNvSpPr/>
            <p:nvPr/>
          </p:nvSpPr>
          <p:spPr>
            <a:xfrm>
              <a:off x="381000" y="295275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g3e4cc64751c_3_78"/>
            <p:cNvSpPr txBox="1"/>
            <p:nvPr/>
          </p:nvSpPr>
          <p:spPr>
            <a:xfrm>
              <a:off x="571500" y="31248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185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2" name="Google Shape;172;g3e4cc64751c_3_78"/>
            <p:cNvSpPr txBox="1"/>
            <p:nvPr/>
          </p:nvSpPr>
          <p:spPr>
            <a:xfrm>
              <a:off x="952500" y="3048000"/>
              <a:ext cx="3333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Temporal Variability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Weigh-in timing varies based on maternal wake times.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Avoids unrealistic "perfect" 24h measurements.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3" name="Google Shape;173;g3e4cc64751c_3_78"/>
          <p:cNvGrpSpPr/>
          <p:nvPr/>
        </p:nvGrpSpPr>
        <p:grpSpPr>
          <a:xfrm>
            <a:off x="4667250" y="2952750"/>
            <a:ext cx="4095900" cy="1238400"/>
            <a:chOff x="4667250" y="2952750"/>
            <a:chExt cx="4095900" cy="1238400"/>
          </a:xfrm>
        </p:grpSpPr>
        <p:sp>
          <p:nvSpPr>
            <p:cNvPr id="174" name="Google Shape;174;g3e4cc64751c_3_78"/>
            <p:cNvSpPr/>
            <p:nvPr/>
          </p:nvSpPr>
          <p:spPr>
            <a:xfrm>
              <a:off x="4667250" y="2952750"/>
              <a:ext cx="40959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3e4cc64751c_3_78"/>
            <p:cNvSpPr txBox="1"/>
            <p:nvPr/>
          </p:nvSpPr>
          <p:spPr>
            <a:xfrm>
              <a:off x="4857750" y="3124835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5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assignment_late</a:t>
              </a:r>
              <a:endParaRPr sz="185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6" name="Google Shape;176;g3e4cc64751c_3_78"/>
            <p:cNvSpPr txBox="1"/>
            <p:nvPr/>
          </p:nvSpPr>
          <p:spPr>
            <a:xfrm>
              <a:off x="5238750" y="3048000"/>
              <a:ext cx="3333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Survey Non-Compliance</a:t>
              </a:r>
              <a:endParaRPr b="1" sz="13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Incomplete symptom surveys (fatigue, lack of trust).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Reflects real-world participant behavior.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g3e4cc64751c_3_78"/>
          <p:cNvGrpSpPr/>
          <p:nvPr/>
        </p:nvGrpSpPr>
        <p:grpSpPr>
          <a:xfrm>
            <a:off x="381000" y="4381500"/>
            <a:ext cx="8382000" cy="571500"/>
            <a:chOff x="381000" y="4381500"/>
            <a:chExt cx="8382000" cy="571500"/>
          </a:xfrm>
        </p:grpSpPr>
        <p:sp>
          <p:nvSpPr>
            <p:cNvPr id="178" name="Google Shape;178;g3e4cc64751c_3_78"/>
            <p:cNvSpPr/>
            <p:nvPr/>
          </p:nvSpPr>
          <p:spPr>
            <a:xfrm>
              <a:off x="381000" y="438150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g3e4cc64751c_3_78"/>
            <p:cNvSpPr txBox="1"/>
            <p:nvPr/>
          </p:nvSpPr>
          <p:spPr>
            <a:xfrm>
              <a:off x="571500" y="438150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Methodology: Probabilistic Noise Injection &amp; Stochastic Measurement Drift</a:t>
              </a:r>
              <a:endParaRPr b="0" sz="10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g3e4cc64751c_3_1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185" name="Google Shape;185;g3e4cc64751c_3_1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3e4cc64751c_3_1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AI-Ready Dataset &amp; Data Curation Strategy</a:t>
              </a:r>
              <a:endParaRPr b="1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7" name="Google Shape;187;g3e4cc64751c_3_1"/>
          <p:cNvGrpSpPr/>
          <p:nvPr/>
        </p:nvGrpSpPr>
        <p:grpSpPr>
          <a:xfrm>
            <a:off x="381000" y="952500"/>
            <a:ext cx="4095900" cy="1428900"/>
            <a:chOff x="381000" y="952500"/>
            <a:chExt cx="4095900" cy="1428900"/>
          </a:xfrm>
        </p:grpSpPr>
        <p:sp>
          <p:nvSpPr>
            <p:cNvPr id="188" name="Google Shape;188;g3e4cc64751c_3_1"/>
            <p:cNvSpPr/>
            <p:nvPr/>
          </p:nvSpPr>
          <p:spPr>
            <a:xfrm>
              <a:off x="381000" y="952500"/>
              <a:ext cx="40959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e4cc64751c_3_1"/>
            <p:cNvSpPr txBox="1"/>
            <p:nvPr/>
          </p:nvSpPr>
          <p:spPr>
            <a:xfrm>
              <a:off x="57150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1. Cleaning &amp; Imputation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Weekly check-ins for active data collection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Categorical:</a:t>
              </a: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Multiple Imputation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b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Continuous:</a:t>
              </a: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 Stochastic Regression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g3e4cc64751c_3_1"/>
          <p:cNvGrpSpPr/>
          <p:nvPr/>
        </p:nvGrpSpPr>
        <p:grpSpPr>
          <a:xfrm>
            <a:off x="4667250" y="952500"/>
            <a:ext cx="4095900" cy="1428900"/>
            <a:chOff x="4667250" y="952500"/>
            <a:chExt cx="4095900" cy="1428900"/>
          </a:xfrm>
        </p:grpSpPr>
        <p:sp>
          <p:nvSpPr>
            <p:cNvPr id="191" name="Google Shape;191;g3e4cc64751c_3_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g3e4cc64751c_3_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2. Artifact Rejection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Filter: low PPG-SQI, motion, off-wrist, bad contact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Retention: Never reject physiological extremes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• Stats: Robust median</a:t>
              </a:r>
              <a:endParaRPr b="0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g3e4cc64751c_3_1"/>
          <p:cNvGrpSpPr/>
          <p:nvPr/>
        </p:nvGrpSpPr>
        <p:grpSpPr>
          <a:xfrm>
            <a:off x="381000" y="2571750"/>
            <a:ext cx="8382000" cy="1143000"/>
            <a:chOff x="381000" y="2571750"/>
            <a:chExt cx="8382000" cy="1143000"/>
          </a:xfrm>
        </p:grpSpPr>
        <p:sp>
          <p:nvSpPr>
            <p:cNvPr id="194" name="Google Shape;194;g3e4cc64751c_3_1"/>
            <p:cNvSpPr/>
            <p:nvPr/>
          </p:nvSpPr>
          <p:spPr>
            <a:xfrm>
              <a:off x="381000" y="2571750"/>
              <a:ext cx="8382000" cy="1143000"/>
            </a:xfrm>
            <a:prstGeom prst="roundRect">
              <a:avLst>
                <a:gd fmla="val 6666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g3e4cc64751c_3_1"/>
            <p:cNvSpPr txBox="1"/>
            <p:nvPr/>
          </p:nvSpPr>
          <p:spPr>
            <a:xfrm>
              <a:off x="571500" y="271462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Hierarchical Fusion Architecture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Per-modality feature extraction → Engineered cross-channel coupling (BP, Body-water, HR/Skin-temp) fused at feature level. Parallel MEOWS rule override ensures graceful degradation under missingness.</a:t>
              </a:r>
              <a:endParaRPr b="0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g3e4cc64751c_3_1"/>
          <p:cNvGrpSpPr/>
          <p:nvPr/>
        </p:nvGrpSpPr>
        <p:grpSpPr>
          <a:xfrm>
            <a:off x="381000" y="3905250"/>
            <a:ext cx="4095900" cy="952500"/>
            <a:chOff x="381000" y="3905250"/>
            <a:chExt cx="4095900" cy="952500"/>
          </a:xfrm>
        </p:grpSpPr>
        <p:sp>
          <p:nvSpPr>
            <p:cNvPr id="197" name="Google Shape;197;g3e4cc64751c_3_1"/>
            <p:cNvSpPr/>
            <p:nvPr/>
          </p:nvSpPr>
          <p:spPr>
            <a:xfrm>
              <a:off x="381000" y="3905250"/>
              <a:ext cx="4095900" cy="952500"/>
            </a:xfrm>
            <a:prstGeom prst="roundRect">
              <a:avLst>
                <a:gd fmla="val 8000" name="adj"/>
              </a:avLst>
            </a:prstGeom>
            <a:solidFill>
              <a:srgbClr val="ECFDF5"/>
            </a:solidFill>
            <a:ln cap="flat" cmpd="sng" w="9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g3e4cc64751c_3_1"/>
            <p:cNvSpPr txBox="1"/>
            <p:nvPr/>
          </p:nvSpPr>
          <p:spPr>
            <a:xfrm>
              <a:off x="809625" y="3905250"/>
              <a:ext cx="3571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Storage &amp; Compliance</a:t>
              </a:r>
              <a:endParaRPr b="1" sz="120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65F46"/>
                  </a:solidFill>
                  <a:latin typeface="Inter"/>
                  <a:ea typeface="Inter"/>
                  <a:cs typeface="Inter"/>
                  <a:sym typeface="Inter"/>
                </a:rPr>
                <a:t>HIPAA-compliant Google Cloud Database</a:t>
              </a:r>
              <a:endParaRPr b="0" sz="1000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9" name="Google Shape;199;g3e4cc64751c_3_1"/>
            <p:cNvSpPr txBox="1"/>
            <p:nvPr/>
          </p:nvSpPr>
          <p:spPr>
            <a:xfrm>
              <a:off x="476250" y="426491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1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200" name="Google Shape;200;g3e4cc64751c_3_1"/>
          <p:cNvGrpSpPr/>
          <p:nvPr/>
        </p:nvGrpSpPr>
        <p:grpSpPr>
          <a:xfrm>
            <a:off x="4667250" y="3905250"/>
            <a:ext cx="4095900" cy="952500"/>
            <a:chOff x="4667250" y="3905250"/>
            <a:chExt cx="4095900" cy="952500"/>
          </a:xfrm>
        </p:grpSpPr>
        <p:sp>
          <p:nvSpPr>
            <p:cNvPr id="201" name="Google Shape;201;g3e4cc64751c_3_1"/>
            <p:cNvSpPr/>
            <p:nvPr/>
          </p:nvSpPr>
          <p:spPr>
            <a:xfrm>
              <a:off x="4667250" y="3905250"/>
              <a:ext cx="4095900" cy="9525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 cap="flat" cmpd="sng" w="95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g3e4cc64751c_3_1"/>
            <p:cNvSpPr txBox="1"/>
            <p:nvPr/>
          </p:nvSpPr>
          <p:spPr>
            <a:xfrm>
              <a:off x="5095875" y="3905250"/>
              <a:ext cx="3571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Unstructured Data Intake</a:t>
              </a:r>
              <a:endParaRPr b="1" sz="12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Limited via semi-structured &amp; scripted interviews</a:t>
              </a:r>
              <a:endParaRPr b="0" sz="10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g3e4cc64751c_3_1"/>
            <p:cNvSpPr txBox="1"/>
            <p:nvPr/>
          </p:nvSpPr>
          <p:spPr>
            <a:xfrm>
              <a:off x="4762500" y="4264914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1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