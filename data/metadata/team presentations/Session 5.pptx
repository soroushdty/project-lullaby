
<file path=[Content_Types].xml><?xml version="1.0" encoding="utf-8"?>
<Types xmlns="http://schemas.openxmlformats.org/package/2006/content-types">
  <Default ContentType="application/xml" Extension="xml"/>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14" Type="http://schemas.openxmlformats.org/officeDocument/2006/relationships/slide" Target="slides/slide9.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 name="Shape 56"/>
        <p:cNvGrpSpPr/>
        <p:nvPr/>
      </p:nvGrpSpPr>
      <p:grpSpPr>
        <a:xfrm>
          <a:off x="0" y="0"/>
          <a:ext cx="0" cy="0"/>
          <a:chOff x="0" y="0"/>
          <a:chExt cx="0" cy="0"/>
        </a:xfrm>
      </p:grpSpPr>
      <p:sp>
        <p:nvSpPr>
          <p:cNvPr id="57" name="Google Shape;57;g3eb3f925fcb_0_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8" name="Google Shape;58;g3eb3f925fcb_0_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 name="Shape 62"/>
        <p:cNvGrpSpPr/>
        <p:nvPr/>
      </p:nvGrpSpPr>
      <p:grpSpPr>
        <a:xfrm>
          <a:off x="0" y="0"/>
          <a:ext cx="0" cy="0"/>
          <a:chOff x="0" y="0"/>
          <a:chExt cx="0" cy="0"/>
        </a:xfrm>
      </p:grpSpPr>
      <p:sp>
        <p:nvSpPr>
          <p:cNvPr id="63" name="Google Shape;63;g3e0a08679cd_0_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4" name="Google Shape;64;g3e0a08679cd_0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 name="Shape 68"/>
        <p:cNvGrpSpPr/>
        <p:nvPr/>
      </p:nvGrpSpPr>
      <p:grpSpPr>
        <a:xfrm>
          <a:off x="0" y="0"/>
          <a:ext cx="0" cy="0"/>
          <a:chOff x="0" y="0"/>
          <a:chExt cx="0" cy="0"/>
        </a:xfrm>
      </p:grpSpPr>
      <p:sp>
        <p:nvSpPr>
          <p:cNvPr id="69" name="Google Shape;69;g3e0a08679cd_0_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0" name="Google Shape;70;g3e0a08679cd_0_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 name="Shape 74"/>
        <p:cNvGrpSpPr/>
        <p:nvPr/>
      </p:nvGrpSpPr>
      <p:grpSpPr>
        <a:xfrm>
          <a:off x="0" y="0"/>
          <a:ext cx="0" cy="0"/>
          <a:chOff x="0" y="0"/>
          <a:chExt cx="0" cy="0"/>
        </a:xfrm>
      </p:grpSpPr>
      <p:sp>
        <p:nvSpPr>
          <p:cNvPr id="75" name="Google Shape;75;g3eb30c1aeec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6" name="Google Shape;76;g3eb30c1aeec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g3e0a08679cd_0_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2" name="Google Shape;82;g3e0a08679cd_0_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 name="Shape 86"/>
        <p:cNvGrpSpPr/>
        <p:nvPr/>
      </p:nvGrpSpPr>
      <p:grpSpPr>
        <a:xfrm>
          <a:off x="0" y="0"/>
          <a:ext cx="0" cy="0"/>
          <a:chOff x="0" y="0"/>
          <a:chExt cx="0" cy="0"/>
        </a:xfrm>
      </p:grpSpPr>
      <p:sp>
        <p:nvSpPr>
          <p:cNvPr id="87" name="Google Shape;87;g3e0a08679cd_0_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8" name="Google Shape;88;g3e0a08679cd_0_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 name="Shape 92"/>
        <p:cNvGrpSpPr/>
        <p:nvPr/>
      </p:nvGrpSpPr>
      <p:grpSpPr>
        <a:xfrm>
          <a:off x="0" y="0"/>
          <a:ext cx="0" cy="0"/>
          <a:chOff x="0" y="0"/>
          <a:chExt cx="0" cy="0"/>
        </a:xfrm>
      </p:grpSpPr>
      <p:sp>
        <p:nvSpPr>
          <p:cNvPr id="93" name="Google Shape;93;g3e0f58ea055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4" name="Google Shape;94;g3e0f58ea055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 name="Shape 98"/>
        <p:cNvGrpSpPr/>
        <p:nvPr/>
      </p:nvGrpSpPr>
      <p:grpSpPr>
        <a:xfrm>
          <a:off x="0" y="0"/>
          <a:ext cx="0" cy="0"/>
          <a:chOff x="0" y="0"/>
          <a:chExt cx="0" cy="0"/>
        </a:xfrm>
      </p:grpSpPr>
      <p:sp>
        <p:nvSpPr>
          <p:cNvPr id="99" name="Google Shape;99;g3eb3f925fcb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0" name="Google Shape;100;g3eb3f925fcb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 name="Shape 53"/>
        <p:cNvGrpSpPr/>
        <p:nvPr/>
      </p:nvGrpSpPr>
      <p:grpSpPr>
        <a:xfrm>
          <a:off x="0" y="0"/>
          <a:ext cx="0" cy="0"/>
          <a:chOff x="0" y="0"/>
          <a:chExt cx="0" cy="0"/>
        </a:xfrm>
      </p:grpSpPr>
      <p:sp>
        <p:nvSpPr>
          <p:cNvPr id="54" name="Google Shape;54;p13"/>
          <p:cNvSpPr txBox="1"/>
          <p:nvPr>
            <p:ph type="ctrTitle"/>
          </p:nvPr>
        </p:nvSpPr>
        <p:spPr>
          <a:xfrm>
            <a:off x="311708" y="744575"/>
            <a:ext cx="8520600" cy="2052600"/>
          </a:xfrm>
          <a:prstGeom prst="rect">
            <a:avLst/>
          </a:prstGeom>
        </p:spPr>
        <p:txBody>
          <a:bodyPr anchorCtr="0" anchor="b" bIns="91425" lIns="91425" spcFirstLastPara="1" rIns="91425" wrap="square" tIns="91425">
            <a:normAutofit fontScale="90000"/>
          </a:bodyPr>
          <a:lstStyle/>
          <a:p>
            <a:pPr indent="0" lvl="0" marL="0" rtl="0" algn="ctr">
              <a:spcBef>
                <a:spcPts val="0"/>
              </a:spcBef>
              <a:spcAft>
                <a:spcPts val="0"/>
              </a:spcAft>
              <a:buNone/>
            </a:pPr>
            <a:r>
              <a:rPr lang="en"/>
              <a:t>Summative Study Presentation &amp; </a:t>
            </a:r>
            <a:r>
              <a:rPr lang="en"/>
              <a:t>Interpretation of Findings</a:t>
            </a:r>
            <a:endParaRPr/>
          </a:p>
          <a:p>
            <a:pPr indent="0" lvl="0" marL="0" rtl="0" algn="ctr">
              <a:spcBef>
                <a:spcPts val="0"/>
              </a:spcBef>
              <a:spcAft>
                <a:spcPts val="0"/>
              </a:spcAft>
              <a:buNone/>
            </a:pPr>
            <a:r>
              <a:rPr lang="en"/>
              <a:t>[Session 5]</a:t>
            </a:r>
            <a:endParaRPr/>
          </a:p>
        </p:txBody>
      </p:sp>
      <p:sp>
        <p:nvSpPr>
          <p:cNvPr id="55" name="Google Shape;55;p13"/>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fontScale="85000" lnSpcReduction="20000"/>
          </a:bodyPr>
          <a:lstStyle/>
          <a:p>
            <a:pPr indent="0" lvl="0" marL="0" rtl="0" algn="ctr">
              <a:spcBef>
                <a:spcPts val="0"/>
              </a:spcBef>
              <a:spcAft>
                <a:spcPts val="0"/>
              </a:spcAft>
              <a:buNone/>
            </a:pPr>
            <a:r>
              <a:rPr lang="en"/>
              <a:t>Group: </a:t>
            </a:r>
            <a:endParaRPr/>
          </a:p>
          <a:p>
            <a:pPr indent="0" lvl="0" marL="0" rtl="0" algn="ctr">
              <a:spcBef>
                <a:spcPts val="0"/>
              </a:spcBef>
              <a:spcAft>
                <a:spcPts val="0"/>
              </a:spcAft>
              <a:buNone/>
            </a:pPr>
            <a:r>
              <a:rPr lang="en"/>
              <a:t>Case: </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 name="Shape 59"/>
        <p:cNvGrpSpPr/>
        <p:nvPr/>
      </p:nvGrpSpPr>
      <p:grpSpPr>
        <a:xfrm>
          <a:off x="0" y="0"/>
          <a:ext cx="0" cy="0"/>
          <a:chOff x="0" y="0"/>
          <a:chExt cx="0" cy="0"/>
        </a:xfrm>
      </p:grpSpPr>
      <p:sp>
        <p:nvSpPr>
          <p:cNvPr id="60" name="Google Shape;60;p1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First 5-7 slides:</a:t>
            </a:r>
            <a:endParaRPr/>
          </a:p>
        </p:txBody>
      </p:sp>
      <p:sp>
        <p:nvSpPr>
          <p:cNvPr id="61" name="Google Shape;61;p1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Summarize your study and the first four session topics applied to your case study</a:t>
            </a:r>
            <a:endParaRPr/>
          </a:p>
          <a:p>
            <a:pPr indent="0" lvl="0" marL="0" rtl="0" algn="l">
              <a:spcBef>
                <a:spcPts val="1200"/>
              </a:spcBef>
              <a:spcAft>
                <a:spcPts val="0"/>
              </a:spcAft>
              <a:buNone/>
            </a:pPr>
            <a:r>
              <a:rPr lang="en"/>
              <a:t>Describe your data integration and curation processes</a:t>
            </a:r>
            <a:endParaRPr/>
          </a:p>
          <a:p>
            <a:pPr indent="0" lvl="0" marL="0" rtl="0" algn="l">
              <a:spcBef>
                <a:spcPts val="1200"/>
              </a:spcBef>
              <a:spcAft>
                <a:spcPts val="0"/>
              </a:spcAft>
              <a:buNone/>
            </a:pPr>
            <a:r>
              <a:rPr lang="en"/>
              <a:t>Describe your data analyses and findings</a:t>
            </a:r>
            <a:endParaRPr/>
          </a:p>
          <a:p>
            <a:pPr indent="0" lvl="0" marL="0" rtl="0" algn="l">
              <a:spcBef>
                <a:spcPts val="1200"/>
              </a:spcBef>
              <a:spcAft>
                <a:spcPts val="1200"/>
              </a:spcAft>
              <a:buNone/>
            </a:pPr>
            <a:r>
              <a:rPr lang="en"/>
              <a:t>Then, proceed to the Interpretation of Findings (Session 5) slides set following this slide, final budget slide, and Next Steps slide to conclude your summative presentation</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 name="Shape 65"/>
        <p:cNvGrpSpPr/>
        <p:nvPr/>
      </p:nvGrpSpPr>
      <p:grpSpPr>
        <a:xfrm>
          <a:off x="0" y="0"/>
          <a:ext cx="0" cy="0"/>
          <a:chOff x="0" y="0"/>
          <a:chExt cx="0" cy="0"/>
        </a:xfrm>
      </p:grpSpPr>
      <p:sp>
        <p:nvSpPr>
          <p:cNvPr id="66" name="Google Shape;66;p1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1200"/>
              </a:spcAft>
              <a:buNone/>
            </a:pPr>
            <a:r>
              <a:rPr b="1" lang="en" sz="1500"/>
              <a:t>Differentiate predictive accuracy from causal behavioral mechanisms.</a:t>
            </a:r>
            <a:r>
              <a:rPr lang="en" sz="1500"/>
              <a:t> What findings from your study are likely to generate results with high predictive accuracy? Do any of these these reveal underlying behavioral or clinical (causal) mechanisms?</a:t>
            </a:r>
            <a:r>
              <a:rPr lang="en" sz="1500"/>
              <a:t> </a:t>
            </a:r>
            <a:endParaRPr/>
          </a:p>
        </p:txBody>
      </p:sp>
      <p:sp>
        <p:nvSpPr>
          <p:cNvPr id="67" name="Google Shape;67;p15"/>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0" lvl="0" marL="0" rtl="0" algn="l">
              <a:lnSpc>
                <a:spcPct val="100000"/>
              </a:lnSpc>
              <a:spcBef>
                <a:spcPts val="0"/>
              </a:spcBef>
              <a:spcAft>
                <a:spcPts val="1200"/>
              </a:spcAft>
              <a:buNone/>
            </a:pPr>
            <a:r>
              <a:t/>
            </a:r>
            <a:endParaRPr sz="1500">
              <a:solidFill>
                <a:schemeClr val="dk1"/>
              </a:solidFill>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 name="Shape 71"/>
        <p:cNvGrpSpPr/>
        <p:nvPr/>
      </p:nvGrpSpPr>
      <p:grpSpPr>
        <a:xfrm>
          <a:off x="0" y="0"/>
          <a:ext cx="0" cy="0"/>
          <a:chOff x="0" y="0"/>
          <a:chExt cx="0" cy="0"/>
        </a:xfrm>
      </p:grpSpPr>
      <p:sp>
        <p:nvSpPr>
          <p:cNvPr id="72" name="Google Shape;72;p1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1200"/>
              </a:spcAft>
              <a:buNone/>
            </a:pPr>
            <a:r>
              <a:rPr b="1" lang="en" sz="1500"/>
              <a:t>Translation of findings. </a:t>
            </a:r>
            <a:r>
              <a:rPr lang="en" sz="1500"/>
              <a:t>How might you translate your digital health generated algorithmic, AI, machine learning outputs into clinically actionable decisions? What confounding considerations might there be for clinic and community decision-making that could impact intervention effects and interpretability? </a:t>
            </a:r>
            <a:endParaRPr/>
          </a:p>
        </p:txBody>
      </p:sp>
      <p:sp>
        <p:nvSpPr>
          <p:cNvPr id="73" name="Google Shape;73;p16"/>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0" lvl="0" marL="0" rtl="0" algn="l">
              <a:lnSpc>
                <a:spcPct val="100000"/>
              </a:lnSpc>
              <a:spcBef>
                <a:spcPts val="0"/>
              </a:spcBef>
              <a:spcAft>
                <a:spcPts val="1200"/>
              </a:spcAft>
              <a:buNone/>
            </a:pPr>
            <a:r>
              <a:t/>
            </a:r>
            <a:endParaRPr sz="1500">
              <a:solidFill>
                <a:schemeClr val="dk1"/>
              </a:solidFill>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 name="Shape 77"/>
        <p:cNvGrpSpPr/>
        <p:nvPr/>
      </p:nvGrpSpPr>
      <p:grpSpPr>
        <a:xfrm>
          <a:off x="0" y="0"/>
          <a:ext cx="0" cy="0"/>
          <a:chOff x="0" y="0"/>
          <a:chExt cx="0" cy="0"/>
        </a:xfrm>
      </p:grpSpPr>
      <p:sp>
        <p:nvSpPr>
          <p:cNvPr id="78" name="Google Shape;78;p1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b="1" lang="en" sz="1500"/>
              <a:t>Statistical significance and clinical/practical significance</a:t>
            </a:r>
            <a:r>
              <a:rPr b="1" lang="en" sz="1500"/>
              <a:t>.</a:t>
            </a:r>
            <a:r>
              <a:rPr lang="en" sz="1500"/>
              <a:t> How will you use evaluate the significance of your findings? Evaluate practical/clinical relevance versus merely significant findings with minimal clinical/behavioral impact. Discuss </a:t>
            </a:r>
            <a:r>
              <a:rPr lang="en" sz="1500"/>
              <a:t>p-values and classical determinations of “statistical significance.”</a:t>
            </a:r>
            <a:endParaRPr sz="1500"/>
          </a:p>
          <a:p>
            <a:pPr indent="0" lvl="0" marL="0" rtl="0" algn="l">
              <a:spcBef>
                <a:spcPts val="1200"/>
              </a:spcBef>
              <a:spcAft>
                <a:spcPts val="1200"/>
              </a:spcAft>
              <a:buNone/>
            </a:pPr>
            <a:r>
              <a:t/>
            </a:r>
            <a:endParaRPr sz="1500"/>
          </a:p>
        </p:txBody>
      </p:sp>
      <p:sp>
        <p:nvSpPr>
          <p:cNvPr id="79" name="Google Shape;79;p17"/>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0" lvl="0" marL="0" rtl="0" algn="l">
              <a:lnSpc>
                <a:spcPct val="100000"/>
              </a:lnSpc>
              <a:spcBef>
                <a:spcPts val="0"/>
              </a:spcBef>
              <a:spcAft>
                <a:spcPts val="1200"/>
              </a:spcAft>
              <a:buNone/>
            </a:pPr>
            <a:r>
              <a:t/>
            </a:r>
            <a:endParaRPr sz="1500">
              <a:solidFill>
                <a:schemeClr val="dk1"/>
              </a:solidFill>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 name="Shape 83"/>
        <p:cNvGrpSpPr/>
        <p:nvPr/>
      </p:nvGrpSpPr>
      <p:grpSpPr>
        <a:xfrm>
          <a:off x="0" y="0"/>
          <a:ext cx="0" cy="0"/>
          <a:chOff x="0" y="0"/>
          <a:chExt cx="0" cy="0"/>
        </a:xfrm>
      </p:grpSpPr>
      <p:sp>
        <p:nvSpPr>
          <p:cNvPr id="84" name="Google Shape;84;p18"/>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1200"/>
              </a:spcAft>
              <a:buNone/>
            </a:pPr>
            <a:r>
              <a:rPr b="1" lang="en" sz="1400"/>
              <a:t>Unintended consequences</a:t>
            </a:r>
            <a:r>
              <a:rPr b="1" lang="en" sz="1400"/>
              <a:t>. </a:t>
            </a:r>
            <a:r>
              <a:rPr lang="en" sz="1400"/>
              <a:t>Identify and interpret unintended behavioral consequences from longitudinal data that you are collecting in your study. How might you modify and evaluate your digital tool’s readiness for the next phase of research? </a:t>
            </a:r>
            <a:endParaRPr/>
          </a:p>
        </p:txBody>
      </p:sp>
      <p:sp>
        <p:nvSpPr>
          <p:cNvPr id="85" name="Google Shape;85;p18"/>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0" lvl="0" marL="0" rtl="0" algn="l">
              <a:lnSpc>
                <a:spcPct val="100000"/>
              </a:lnSpc>
              <a:spcBef>
                <a:spcPts val="0"/>
              </a:spcBef>
              <a:spcAft>
                <a:spcPts val="1200"/>
              </a:spcAft>
              <a:buNone/>
            </a:pPr>
            <a:r>
              <a:t/>
            </a:r>
            <a:endParaRPr sz="1400">
              <a:solidFill>
                <a:schemeClr val="dk1"/>
              </a:solidFill>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9" name="Shape 89"/>
        <p:cNvGrpSpPr/>
        <p:nvPr/>
      </p:nvGrpSpPr>
      <p:grpSpPr>
        <a:xfrm>
          <a:off x="0" y="0"/>
          <a:ext cx="0" cy="0"/>
          <a:chOff x="0" y="0"/>
          <a:chExt cx="0" cy="0"/>
        </a:xfrm>
      </p:grpSpPr>
      <p:sp>
        <p:nvSpPr>
          <p:cNvPr id="90" name="Google Shape;90;p19"/>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1200"/>
              </a:spcAft>
              <a:buNone/>
            </a:pPr>
            <a:r>
              <a:rPr b="1" lang="en" sz="1400"/>
              <a:t>Broader impact</a:t>
            </a:r>
            <a:r>
              <a:rPr b="1" lang="en" sz="1400"/>
              <a:t>.</a:t>
            </a:r>
            <a:r>
              <a:rPr lang="en" sz="1400"/>
              <a:t> Given your study findings, what is now possible? What scientific advancements can be made? What is the public health impact of the work?</a:t>
            </a:r>
            <a:endParaRPr/>
          </a:p>
        </p:txBody>
      </p:sp>
      <p:sp>
        <p:nvSpPr>
          <p:cNvPr id="91" name="Google Shape;91;p19"/>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0" lvl="0" marL="0" rtl="0" algn="l">
              <a:lnSpc>
                <a:spcPct val="100000"/>
              </a:lnSpc>
              <a:spcBef>
                <a:spcPts val="0"/>
              </a:spcBef>
              <a:spcAft>
                <a:spcPts val="1200"/>
              </a:spcAft>
              <a:buNone/>
            </a:pPr>
            <a:r>
              <a:t/>
            </a:r>
            <a:endParaRPr sz="1400">
              <a:solidFill>
                <a:schemeClr val="dk1"/>
              </a:solidFill>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 name="Shape 95"/>
        <p:cNvGrpSpPr/>
        <p:nvPr/>
      </p:nvGrpSpPr>
      <p:grpSpPr>
        <a:xfrm>
          <a:off x="0" y="0"/>
          <a:ext cx="0" cy="0"/>
          <a:chOff x="0" y="0"/>
          <a:chExt cx="0" cy="0"/>
        </a:xfrm>
      </p:grpSpPr>
      <p:sp>
        <p:nvSpPr>
          <p:cNvPr id="96" name="Google Shape;96;p20"/>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1200"/>
              </a:spcAft>
              <a:buNone/>
            </a:pPr>
            <a:r>
              <a:rPr b="1" lang="en" sz="1400"/>
              <a:t>Budget Needs. </a:t>
            </a:r>
            <a:r>
              <a:rPr lang="en" sz="1400"/>
              <a:t>How much money will you need for interpretation of study findings? Justify your funding needs including what you will spend those funds on (e.g., software engineers, user testing, etc…).  What is your </a:t>
            </a:r>
            <a:r>
              <a:rPr b="1" lang="en" sz="1400"/>
              <a:t>OVERALL </a:t>
            </a:r>
            <a:r>
              <a:rPr lang="en" sz="1400"/>
              <a:t>budget for this project?</a:t>
            </a:r>
            <a:endParaRPr sz="1400"/>
          </a:p>
        </p:txBody>
      </p:sp>
      <p:sp>
        <p:nvSpPr>
          <p:cNvPr id="97" name="Google Shape;97;p20"/>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0" lvl="0" marL="0" rtl="0" algn="l">
              <a:lnSpc>
                <a:spcPct val="100000"/>
              </a:lnSpc>
              <a:spcBef>
                <a:spcPts val="0"/>
              </a:spcBef>
              <a:spcAft>
                <a:spcPts val="1200"/>
              </a:spcAft>
              <a:buNone/>
            </a:pPr>
            <a:r>
              <a:t/>
            </a:r>
            <a:endParaRPr sz="1400">
              <a:solidFill>
                <a:schemeClr val="dk1"/>
              </a:solidFill>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1" name="Shape 101"/>
        <p:cNvGrpSpPr/>
        <p:nvPr/>
      </p:nvGrpSpPr>
      <p:grpSpPr>
        <a:xfrm>
          <a:off x="0" y="0"/>
          <a:ext cx="0" cy="0"/>
          <a:chOff x="0" y="0"/>
          <a:chExt cx="0" cy="0"/>
        </a:xfrm>
      </p:grpSpPr>
      <p:sp>
        <p:nvSpPr>
          <p:cNvPr id="102" name="Google Shape;102;p21"/>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1200"/>
              </a:spcAft>
              <a:buNone/>
            </a:pPr>
            <a:r>
              <a:rPr b="1" lang="en" sz="1400"/>
              <a:t>Funding the next phase</a:t>
            </a:r>
            <a:r>
              <a:rPr b="1" lang="en" sz="1400"/>
              <a:t>. </a:t>
            </a:r>
            <a:r>
              <a:rPr lang="en" sz="1400"/>
              <a:t>I</a:t>
            </a:r>
            <a:r>
              <a:rPr lang="en" sz="1400"/>
              <a:t>f you were to write a grant application based on your case study preliminary findings, what would your Specific Aims for that application be?</a:t>
            </a:r>
            <a:endParaRPr/>
          </a:p>
        </p:txBody>
      </p:sp>
      <p:sp>
        <p:nvSpPr>
          <p:cNvPr id="103" name="Google Shape;103;p21"/>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0" lvl="0" marL="0" rtl="0" algn="l">
              <a:lnSpc>
                <a:spcPct val="100000"/>
              </a:lnSpc>
              <a:spcBef>
                <a:spcPts val="0"/>
              </a:spcBef>
              <a:spcAft>
                <a:spcPts val="1200"/>
              </a:spcAft>
              <a:buNone/>
            </a:pPr>
            <a:r>
              <a:t/>
            </a:r>
            <a:endParaRPr sz="1400">
              <a:solidFill>
                <a:schemeClr val="dk1"/>
              </a:solidFill>
            </a:endParaRPr>
          </a:p>
        </p:txBody>
      </p:sp>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